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25"/>
  </p:notesMasterIdLst>
  <p:handoutMasterIdLst>
    <p:handoutMasterId r:id="rId26"/>
  </p:handoutMasterIdLst>
  <p:sldIdLst>
    <p:sldId id="414" r:id="rId2"/>
    <p:sldId id="365" r:id="rId3"/>
    <p:sldId id="487" r:id="rId4"/>
    <p:sldId id="488" r:id="rId5"/>
    <p:sldId id="489" r:id="rId6"/>
    <p:sldId id="490" r:id="rId7"/>
    <p:sldId id="491" r:id="rId8"/>
    <p:sldId id="492" r:id="rId9"/>
    <p:sldId id="496" r:id="rId10"/>
    <p:sldId id="493" r:id="rId11"/>
    <p:sldId id="494" r:id="rId12"/>
    <p:sldId id="497" r:id="rId13"/>
    <p:sldId id="498" r:id="rId14"/>
    <p:sldId id="499" r:id="rId15"/>
    <p:sldId id="500" r:id="rId16"/>
    <p:sldId id="508" r:id="rId17"/>
    <p:sldId id="509" r:id="rId18"/>
    <p:sldId id="510" r:id="rId19"/>
    <p:sldId id="511" r:id="rId20"/>
    <p:sldId id="512" r:id="rId21"/>
    <p:sldId id="502" r:id="rId22"/>
    <p:sldId id="513" r:id="rId23"/>
    <p:sldId id="507" r:id="rId24"/>
  </p:sldIdLst>
  <p:sldSz cx="9144000" cy="6096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39B"/>
    <a:srgbClr val="AD278D"/>
    <a:srgbClr val="8C4881"/>
    <a:srgbClr val="FF6699"/>
    <a:srgbClr val="D7FA7E"/>
    <a:srgbClr val="96E3FE"/>
    <a:srgbClr val="FFFF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6" autoAdjust="0"/>
    <p:restoredTop sz="97440" autoAdjust="0"/>
  </p:normalViewPr>
  <p:slideViewPr>
    <p:cSldViewPr snapToGrid="0">
      <p:cViewPr varScale="1">
        <p:scale>
          <a:sx n="172" d="100"/>
          <a:sy n="172" d="100"/>
        </p:scale>
        <p:origin x="132" y="24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, John" userId="b832e3c7-9a1d-4a58-b5b1-e1dd528dcbda" providerId="ADAL" clId="{79A9C091-A37D-44BE-9AD0-9CE1349B670D}"/>
    <pc:docChg chg="modSld">
      <pc:chgData name="Hart, John" userId="b832e3c7-9a1d-4a58-b5b1-e1dd528dcbda" providerId="ADAL" clId="{79A9C091-A37D-44BE-9AD0-9CE1349B670D}" dt="2021-03-03T15:51:40.537" v="4" actId="20577"/>
      <pc:docMkLst>
        <pc:docMk/>
      </pc:docMkLst>
      <pc:sldChg chg="modSp mod">
        <pc:chgData name="Hart, John" userId="b832e3c7-9a1d-4a58-b5b1-e1dd528dcbda" providerId="ADAL" clId="{79A9C091-A37D-44BE-9AD0-9CE1349B670D}" dt="2021-03-03T15:51:10.571" v="2" actId="20577"/>
        <pc:sldMkLst>
          <pc:docMk/>
          <pc:sldMk cId="0" sldId="365"/>
        </pc:sldMkLst>
        <pc:spChg chg="mod">
          <ac:chgData name="Hart, John" userId="b832e3c7-9a1d-4a58-b5b1-e1dd528dcbda" providerId="ADAL" clId="{79A9C091-A37D-44BE-9AD0-9CE1349B670D}" dt="2021-03-03T15:51:10.571" v="2" actId="20577"/>
          <ac:spMkLst>
            <pc:docMk/>
            <pc:sldMk cId="0" sldId="365"/>
            <ac:spMk id="941059" creationId="{00000000-0000-0000-0000-000000000000}"/>
          </ac:spMkLst>
        </pc:spChg>
      </pc:sldChg>
      <pc:sldChg chg="modSp">
        <pc:chgData name="Hart, John" userId="b832e3c7-9a1d-4a58-b5b1-e1dd528dcbda" providerId="ADAL" clId="{79A9C091-A37D-44BE-9AD0-9CE1349B670D}" dt="2021-03-03T15:51:40.537" v="4" actId="20577"/>
        <pc:sldMkLst>
          <pc:docMk/>
          <pc:sldMk cId="0" sldId="414"/>
        </pc:sldMkLst>
        <pc:spChg chg="mod">
          <ac:chgData name="Hart, John" userId="b832e3c7-9a1d-4a58-b5b1-e1dd528dcbda" providerId="ADAL" clId="{79A9C091-A37D-44BE-9AD0-9CE1349B670D}" dt="2021-03-03T15:51:40.537" v="4" actId="20577"/>
          <ac:spMkLst>
            <pc:docMk/>
            <pc:sldMk cId="0" sldId="414"/>
            <ac:spMk id="1025029" creationId="{00000000-0000-0000-0000-000000000000}"/>
          </ac:spMkLst>
        </pc:spChg>
      </pc:sldChg>
    </pc:docChg>
  </pc:docChgLst>
  <pc:docChgLst>
    <pc:chgData name="Hart, John" userId="b832e3c7-9a1d-4a58-b5b1-e1dd528dcbda" providerId="ADAL" clId="{4EC7FBD4-FB41-41CE-BBE9-28E334F1B631}"/>
    <pc:docChg chg="custSel modSld sldOrd">
      <pc:chgData name="Hart, John" userId="b832e3c7-9a1d-4a58-b5b1-e1dd528dcbda" providerId="ADAL" clId="{4EC7FBD4-FB41-41CE-BBE9-28E334F1B631}" dt="2022-02-24T16:57:38.726" v="3"/>
      <pc:docMkLst>
        <pc:docMk/>
      </pc:docMkLst>
      <pc:sldChg chg="modSp mod">
        <pc:chgData name="Hart, John" userId="b832e3c7-9a1d-4a58-b5b1-e1dd528dcbda" providerId="ADAL" clId="{4EC7FBD4-FB41-41CE-BBE9-28E334F1B631}" dt="2022-02-24T16:05:12.838" v="1" actId="33524"/>
        <pc:sldMkLst>
          <pc:docMk/>
          <pc:sldMk cId="769158987" sldId="489"/>
        </pc:sldMkLst>
        <pc:spChg chg="mod">
          <ac:chgData name="Hart, John" userId="b832e3c7-9a1d-4a58-b5b1-e1dd528dcbda" providerId="ADAL" clId="{4EC7FBD4-FB41-41CE-BBE9-28E334F1B631}" dt="2022-02-24T16:05:12.838" v="1" actId="33524"/>
          <ac:spMkLst>
            <pc:docMk/>
            <pc:sldMk cId="769158987" sldId="489"/>
            <ac:spMk id="984067" creationId="{00000000-0000-0000-0000-000000000000}"/>
          </ac:spMkLst>
        </pc:spChg>
      </pc:sldChg>
      <pc:sldChg chg="ord">
        <pc:chgData name="Hart, John" userId="b832e3c7-9a1d-4a58-b5b1-e1dd528dcbda" providerId="ADAL" clId="{4EC7FBD4-FB41-41CE-BBE9-28E334F1B631}" dt="2022-02-24T16:57:38.726" v="3"/>
        <pc:sldMkLst>
          <pc:docMk/>
          <pc:sldMk cId="3206150056" sldId="4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376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4288" y="823913"/>
            <a:ext cx="4760912" cy="3173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568837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968025"/>
            <a:ext cx="6858000" cy="1061911"/>
          </a:xfrm>
        </p:spPr>
        <p:txBody>
          <a:bodyPr wrap="none" anchor="t">
            <a:normAutofit/>
          </a:bodyPr>
          <a:lstStyle>
            <a:lvl1pPr algn="r">
              <a:defRPr sz="6400" b="0" spc="-2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404337"/>
            <a:ext cx="6858000" cy="549798"/>
          </a:xfrm>
        </p:spPr>
        <p:txBody>
          <a:bodyPr anchor="b">
            <a:normAutofit/>
          </a:bodyPr>
          <a:lstStyle>
            <a:lvl1pPr marL="0" indent="0" algn="r">
              <a:buNone/>
              <a:defRPr sz="2133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04804" indent="0" algn="ctr">
              <a:buNone/>
              <a:defRPr sz="1333"/>
            </a:lvl2pPr>
            <a:lvl3pPr marL="609608" indent="0" algn="ctr">
              <a:buNone/>
              <a:defRPr sz="1200"/>
            </a:lvl3pPr>
            <a:lvl4pPr marL="914411" indent="0" algn="ctr">
              <a:buNone/>
              <a:defRPr sz="1067"/>
            </a:lvl4pPr>
            <a:lvl5pPr marL="1219215" indent="0" algn="ctr">
              <a:buNone/>
              <a:defRPr sz="1067"/>
            </a:lvl5pPr>
            <a:lvl6pPr marL="1524019" indent="0" algn="ctr">
              <a:buNone/>
              <a:defRPr sz="1067"/>
            </a:lvl6pPr>
            <a:lvl7pPr marL="1828823" indent="0" algn="ctr">
              <a:buNone/>
              <a:defRPr sz="1067"/>
            </a:lvl7pPr>
            <a:lvl8pPr marL="2133627" indent="0" algn="ctr">
              <a:buNone/>
              <a:defRPr sz="1067"/>
            </a:lvl8pPr>
            <a:lvl9pPr marL="2438430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B5415-7276-49A8-94B7-3366940E6CA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7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0F14E4-7BD4-4C43-8877-5C3422471A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0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968025"/>
            <a:ext cx="6858000" cy="1061911"/>
          </a:xfrm>
        </p:spPr>
        <p:txBody>
          <a:bodyPr wrap="none" anchor="t">
            <a:normAutofit/>
          </a:bodyPr>
          <a:lstStyle>
            <a:lvl1pPr algn="l">
              <a:defRPr sz="6400" b="0" spc="-2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404336"/>
            <a:ext cx="6858000" cy="549175"/>
          </a:xfrm>
        </p:spPr>
        <p:txBody>
          <a:bodyPr anchor="b">
            <a:normAutofit/>
          </a:bodyPr>
          <a:lstStyle>
            <a:lvl1pPr marL="0" indent="0" algn="l">
              <a:buNone/>
              <a:defRPr sz="2133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04804" indent="0" algn="ctr">
              <a:buNone/>
              <a:defRPr sz="1333"/>
            </a:lvl2pPr>
            <a:lvl3pPr marL="609608" indent="0" algn="ctr">
              <a:buNone/>
              <a:defRPr sz="1200"/>
            </a:lvl3pPr>
            <a:lvl4pPr marL="914411" indent="0" algn="ctr">
              <a:buNone/>
              <a:defRPr sz="1067"/>
            </a:lvl4pPr>
            <a:lvl5pPr marL="1219215" indent="0" algn="ctr">
              <a:buNone/>
              <a:defRPr sz="1067"/>
            </a:lvl5pPr>
            <a:lvl6pPr marL="1524019" indent="0" algn="ctr">
              <a:buNone/>
              <a:defRPr sz="1067"/>
            </a:lvl6pPr>
            <a:lvl7pPr marL="1828823" indent="0" algn="ctr">
              <a:buNone/>
              <a:defRPr sz="1067"/>
            </a:lvl7pPr>
            <a:lvl8pPr marL="2133627" indent="0" algn="ctr">
              <a:buNone/>
              <a:defRPr sz="1067"/>
            </a:lvl8pPr>
            <a:lvl9pPr marL="2438430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85D9E-427A-49DA-9BE8-406BE3E601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0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622778"/>
            <a:ext cx="3768912" cy="38678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622778"/>
            <a:ext cx="3775470" cy="38678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9975E-A006-4006-86B6-65B3DF48A6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4557"/>
            <a:ext cx="7886700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494367"/>
            <a:ext cx="3768912" cy="732366"/>
          </a:xfrm>
        </p:spPr>
        <p:txBody>
          <a:bodyPr anchor="b">
            <a:normAutofit/>
          </a:bodyPr>
          <a:lstStyle>
            <a:lvl1pPr marL="0" indent="0">
              <a:buNone/>
              <a:defRPr sz="1778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04804" indent="0">
              <a:buNone/>
              <a:defRPr sz="1333" b="1"/>
            </a:lvl2pPr>
            <a:lvl3pPr marL="609608" indent="0">
              <a:buNone/>
              <a:defRPr sz="1200" b="1"/>
            </a:lvl3pPr>
            <a:lvl4pPr marL="914411" indent="0">
              <a:buNone/>
              <a:defRPr sz="1067" b="1"/>
            </a:lvl4pPr>
            <a:lvl5pPr marL="1219215" indent="0">
              <a:buNone/>
              <a:defRPr sz="1067" b="1"/>
            </a:lvl5pPr>
            <a:lvl6pPr marL="1524019" indent="0">
              <a:buNone/>
              <a:defRPr sz="1067" b="1"/>
            </a:lvl6pPr>
            <a:lvl7pPr marL="1828823" indent="0">
              <a:buNone/>
              <a:defRPr sz="1067" b="1"/>
            </a:lvl7pPr>
            <a:lvl8pPr marL="2133627" indent="0">
              <a:buNone/>
              <a:defRPr sz="1067" b="1"/>
            </a:lvl8pPr>
            <a:lvl9pPr marL="2438430" indent="0">
              <a:buNone/>
              <a:defRPr sz="106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226734"/>
            <a:ext cx="3768912" cy="3275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1" y="1494367"/>
            <a:ext cx="3776661" cy="7323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778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1" y="2226734"/>
            <a:ext cx="3776661" cy="3275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CF290F-6260-478C-9E80-7E0E507BE4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1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E63586-79FA-42B0-AC90-09EE45D70A1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11026-3888-47B7-B478-21E248EE39A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6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77713"/>
            <a:ext cx="4629150" cy="43321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1" y="1828800"/>
            <a:ext cx="2739019" cy="3388078"/>
          </a:xfrm>
        </p:spPr>
        <p:txBody>
          <a:bodyPr>
            <a:normAutofit/>
          </a:bodyPr>
          <a:lstStyle>
            <a:lvl1pPr marL="0" indent="0">
              <a:buNone/>
              <a:defRPr sz="1244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AC2BA-470C-4A0D-8313-C34ACD03D8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9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77713"/>
            <a:ext cx="4629150" cy="4332111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04" indent="0">
              <a:buNone/>
              <a:defRPr sz="1867"/>
            </a:lvl2pPr>
            <a:lvl3pPr marL="609608" indent="0">
              <a:buNone/>
              <a:defRPr sz="1600"/>
            </a:lvl3pPr>
            <a:lvl4pPr marL="914411" indent="0">
              <a:buNone/>
              <a:defRPr sz="1333"/>
            </a:lvl4pPr>
            <a:lvl5pPr marL="1219215" indent="0">
              <a:buNone/>
              <a:defRPr sz="1333"/>
            </a:lvl5pPr>
            <a:lvl6pPr marL="1524019" indent="0">
              <a:buNone/>
              <a:defRPr sz="1333"/>
            </a:lvl6pPr>
            <a:lvl7pPr marL="1828823" indent="0">
              <a:buNone/>
              <a:defRPr sz="1333"/>
            </a:lvl7pPr>
            <a:lvl8pPr marL="2133627" indent="0">
              <a:buNone/>
              <a:defRPr sz="1333"/>
            </a:lvl8pPr>
            <a:lvl9pPr marL="243843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1" y="1828800"/>
            <a:ext cx="2739019" cy="3388078"/>
          </a:xfrm>
        </p:spPr>
        <p:txBody>
          <a:bodyPr>
            <a:normAutofit/>
          </a:bodyPr>
          <a:lstStyle>
            <a:lvl1pPr marL="0" indent="0">
              <a:buNone/>
              <a:defRPr sz="1244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1A8F64-B7DA-4181-8B9C-AA01C1F310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81921"/>
            <a:ext cx="7886700" cy="728316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877712"/>
            <a:ext cx="7886700" cy="3004209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04" indent="0">
              <a:buNone/>
              <a:defRPr sz="1867"/>
            </a:lvl2pPr>
            <a:lvl3pPr marL="609608" indent="0">
              <a:buNone/>
              <a:defRPr sz="1600"/>
            </a:lvl3pPr>
            <a:lvl4pPr marL="914411" indent="0">
              <a:buNone/>
              <a:defRPr sz="1333"/>
            </a:lvl4pPr>
            <a:lvl5pPr marL="1219215" indent="0">
              <a:buNone/>
              <a:defRPr sz="1333"/>
            </a:lvl5pPr>
            <a:lvl6pPr marL="1524019" indent="0">
              <a:buNone/>
              <a:defRPr sz="1333"/>
            </a:lvl6pPr>
            <a:lvl7pPr marL="1828823" indent="0">
              <a:buNone/>
              <a:defRPr sz="1333"/>
            </a:lvl7pPr>
            <a:lvl8pPr marL="2133627" indent="0">
              <a:buNone/>
              <a:defRPr sz="1333"/>
            </a:lvl8pPr>
            <a:lvl9pPr marL="243843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4610236"/>
            <a:ext cx="7885509" cy="606642"/>
          </a:xfrm>
        </p:spPr>
        <p:txBody>
          <a:bodyPr/>
          <a:lstStyle>
            <a:lvl1pPr marL="0" indent="0">
              <a:buNone/>
              <a:defRPr sz="1067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1598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4556"/>
            <a:ext cx="7886700" cy="3141639"/>
          </a:xfrm>
        </p:spPr>
        <p:txBody>
          <a:bodyPr anchor="ctr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3990577"/>
            <a:ext cx="7885509" cy="1334956"/>
          </a:xfrm>
        </p:spPr>
        <p:txBody>
          <a:bodyPr anchor="ctr"/>
          <a:lstStyle>
            <a:lvl1pPr marL="0" indent="0">
              <a:buNone/>
              <a:defRPr sz="1067"/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3126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24556"/>
            <a:ext cx="6977064" cy="2660359"/>
          </a:xfrm>
        </p:spPr>
        <p:txBody>
          <a:bodyPr anchor="ctr"/>
          <a:lstStyle>
            <a:lvl1pPr>
              <a:defRPr sz="29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991606"/>
            <a:ext cx="6564224" cy="487972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001537"/>
            <a:ext cx="7884318" cy="1323996"/>
          </a:xfrm>
        </p:spPr>
        <p:txBody>
          <a:bodyPr anchor="ctr">
            <a:normAutofit/>
          </a:bodyPr>
          <a:lstStyle>
            <a:lvl1pPr marL="0" indent="0">
              <a:buNone/>
              <a:defRPr sz="1067"/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699399"/>
            <a:ext cx="457200" cy="519801"/>
          </a:xfrm>
          <a:prstGeom prst="rect">
            <a:avLst/>
          </a:prstGeom>
        </p:spPr>
        <p:txBody>
          <a:bodyPr vert="horz" lIns="60960" tIns="30480" rIns="60960" bIns="304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333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438400"/>
            <a:ext cx="457200" cy="519801"/>
          </a:xfrm>
          <a:prstGeom prst="rect">
            <a:avLst/>
          </a:prstGeom>
        </p:spPr>
        <p:txBody>
          <a:bodyPr vert="horz" lIns="60960" tIns="30480" rIns="60960" bIns="304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333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081536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068417"/>
            <a:ext cx="7886700" cy="223274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4311627"/>
            <a:ext cx="7885509" cy="1013906"/>
          </a:xfrm>
        </p:spPr>
        <p:txBody>
          <a:bodyPr anchor="t"/>
          <a:lstStyle>
            <a:lvl1pPr marL="0" indent="0">
              <a:buNone/>
              <a:defRPr sz="1067"/>
            </a:lvl1pPr>
            <a:lvl2pPr marL="304804" indent="0">
              <a:buNone/>
              <a:defRPr sz="933"/>
            </a:lvl2pPr>
            <a:lvl3pPr marL="609608" indent="0">
              <a:buNone/>
              <a:defRPr sz="800"/>
            </a:lvl3pPr>
            <a:lvl4pPr marL="914411" indent="0">
              <a:buNone/>
              <a:defRPr sz="667"/>
            </a:lvl4pPr>
            <a:lvl5pPr marL="1219215" indent="0">
              <a:buNone/>
              <a:defRPr sz="667"/>
            </a:lvl5pPr>
            <a:lvl6pPr marL="1524019" indent="0">
              <a:buNone/>
              <a:defRPr sz="667"/>
            </a:lvl6pPr>
            <a:lvl7pPr marL="1828823" indent="0">
              <a:buNone/>
              <a:defRPr sz="667"/>
            </a:lvl7pPr>
            <a:lvl8pPr marL="2133627" indent="0">
              <a:buNone/>
              <a:defRPr sz="667"/>
            </a:lvl8pPr>
            <a:lvl9pPr marL="2438430" indent="0">
              <a:buNone/>
              <a:defRPr sz="66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6729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24557"/>
            <a:ext cx="7886700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676400"/>
            <a:ext cx="2210150" cy="512233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04804" indent="0">
              <a:buNone/>
              <a:defRPr sz="1333" b="1"/>
            </a:lvl2pPr>
            <a:lvl3pPr marL="609608" indent="0">
              <a:buNone/>
              <a:defRPr sz="1200" b="1"/>
            </a:lvl3pPr>
            <a:lvl4pPr marL="914411" indent="0">
              <a:buNone/>
              <a:defRPr sz="1067" b="1"/>
            </a:lvl4pPr>
            <a:lvl5pPr marL="1219215" indent="0">
              <a:buNone/>
              <a:defRPr sz="1067" b="1"/>
            </a:lvl5pPr>
            <a:lvl6pPr marL="1524019" indent="0">
              <a:buNone/>
              <a:defRPr sz="1067" b="1"/>
            </a:lvl6pPr>
            <a:lvl7pPr marL="1828823" indent="0">
              <a:buNone/>
              <a:defRPr sz="1067" b="1"/>
            </a:lvl7pPr>
            <a:lvl8pPr marL="2133627" indent="0">
              <a:buNone/>
              <a:defRPr sz="1067" b="1"/>
            </a:lvl8pPr>
            <a:lvl9pPr marL="2438430" indent="0">
              <a:buNone/>
              <a:defRPr sz="106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9" y="2286000"/>
            <a:ext cx="2195513" cy="3190523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7" y="1676400"/>
            <a:ext cx="2202181" cy="51223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6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286000"/>
            <a:ext cx="2210096" cy="3190523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8" y="1676400"/>
            <a:ext cx="2199085" cy="51223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6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8" y="2286000"/>
            <a:ext cx="2199085" cy="3190523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225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24557"/>
            <a:ext cx="7886700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820003"/>
            <a:ext cx="2205038" cy="512233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04804" indent="0">
              <a:buNone/>
              <a:defRPr sz="1333" b="1"/>
            </a:lvl2pPr>
            <a:lvl3pPr marL="609608" indent="0">
              <a:buNone/>
              <a:defRPr sz="1200" b="1"/>
            </a:lvl3pPr>
            <a:lvl4pPr marL="914411" indent="0">
              <a:buNone/>
              <a:defRPr sz="1067" b="1"/>
            </a:lvl4pPr>
            <a:lvl5pPr marL="1219215" indent="0">
              <a:buNone/>
              <a:defRPr sz="1067" b="1"/>
            </a:lvl5pPr>
            <a:lvl6pPr marL="1524019" indent="0">
              <a:buNone/>
              <a:defRPr sz="1067" b="1"/>
            </a:lvl6pPr>
            <a:lvl7pPr marL="1828823" indent="0">
              <a:buNone/>
              <a:defRPr sz="1067" b="1"/>
            </a:lvl7pPr>
            <a:lvl8pPr marL="2133627" indent="0">
              <a:buNone/>
              <a:defRPr sz="1067" b="1"/>
            </a:lvl8pPr>
            <a:lvl9pPr marL="2438430" indent="0">
              <a:buNone/>
              <a:defRPr sz="106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005648"/>
            <a:ext cx="2205038" cy="1354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04" indent="0">
              <a:buNone/>
              <a:defRPr sz="1067"/>
            </a:lvl2pPr>
            <a:lvl3pPr marL="609608" indent="0">
              <a:buNone/>
              <a:defRPr sz="1067"/>
            </a:lvl3pPr>
            <a:lvl4pPr marL="914411" indent="0">
              <a:buNone/>
              <a:defRPr sz="1067"/>
            </a:lvl4pPr>
            <a:lvl5pPr marL="1219215" indent="0">
              <a:buNone/>
              <a:defRPr sz="1067"/>
            </a:lvl5pPr>
            <a:lvl6pPr marL="1524019" indent="0">
              <a:buNone/>
              <a:defRPr sz="1067"/>
            </a:lvl6pPr>
            <a:lvl7pPr marL="1828823" indent="0">
              <a:buNone/>
              <a:defRPr sz="1067"/>
            </a:lvl7pPr>
            <a:lvl8pPr marL="2133627" indent="0">
              <a:buNone/>
              <a:defRPr sz="1067"/>
            </a:lvl8pPr>
            <a:lvl9pPr marL="2438430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332237"/>
            <a:ext cx="2205038" cy="585946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820003"/>
            <a:ext cx="2197894" cy="512233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04804" indent="0">
              <a:buNone/>
              <a:defRPr sz="1333" b="1"/>
            </a:lvl2pPr>
            <a:lvl3pPr marL="609608" indent="0">
              <a:buNone/>
              <a:defRPr sz="1200" b="1"/>
            </a:lvl3pPr>
            <a:lvl4pPr marL="914411" indent="0">
              <a:buNone/>
              <a:defRPr sz="1067" b="1"/>
            </a:lvl4pPr>
            <a:lvl5pPr marL="1219215" indent="0">
              <a:buNone/>
              <a:defRPr sz="1067" b="1"/>
            </a:lvl5pPr>
            <a:lvl6pPr marL="1524019" indent="0">
              <a:buNone/>
              <a:defRPr sz="1067" b="1"/>
            </a:lvl6pPr>
            <a:lvl7pPr marL="1828823" indent="0">
              <a:buNone/>
              <a:defRPr sz="1067" b="1"/>
            </a:lvl7pPr>
            <a:lvl8pPr marL="2133627" indent="0">
              <a:buNone/>
              <a:defRPr sz="1067" b="1"/>
            </a:lvl8pPr>
            <a:lvl9pPr marL="2438430" indent="0">
              <a:buNone/>
              <a:defRPr sz="106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05648"/>
            <a:ext cx="2197894" cy="1354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04" indent="0">
              <a:buNone/>
              <a:defRPr sz="1067"/>
            </a:lvl2pPr>
            <a:lvl3pPr marL="609608" indent="0">
              <a:buNone/>
              <a:defRPr sz="1067"/>
            </a:lvl3pPr>
            <a:lvl4pPr marL="914411" indent="0">
              <a:buNone/>
              <a:defRPr sz="1067"/>
            </a:lvl4pPr>
            <a:lvl5pPr marL="1219215" indent="0">
              <a:buNone/>
              <a:defRPr sz="1067"/>
            </a:lvl5pPr>
            <a:lvl6pPr marL="1524019" indent="0">
              <a:buNone/>
              <a:defRPr sz="1067"/>
            </a:lvl6pPr>
            <a:lvl7pPr marL="1828823" indent="0">
              <a:buNone/>
              <a:defRPr sz="1067"/>
            </a:lvl7pPr>
            <a:lvl8pPr marL="2133627" indent="0">
              <a:buNone/>
              <a:defRPr sz="1067"/>
            </a:lvl8pPr>
            <a:lvl9pPr marL="2438430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4" y="4332236"/>
            <a:ext cx="2200805" cy="585946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3" y="3820003"/>
            <a:ext cx="2199085" cy="512233"/>
          </a:xfrm>
        </p:spPr>
        <p:txBody>
          <a:bodyPr anchor="b">
            <a:noAutofit/>
          </a:bodyPr>
          <a:lstStyle>
            <a:lvl1pPr marL="0" indent="0">
              <a:buNone/>
              <a:defRPr sz="16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04804" indent="0">
              <a:buNone/>
              <a:defRPr sz="1333" b="1"/>
            </a:lvl2pPr>
            <a:lvl3pPr marL="609608" indent="0">
              <a:buNone/>
              <a:defRPr sz="1200" b="1"/>
            </a:lvl3pPr>
            <a:lvl4pPr marL="914411" indent="0">
              <a:buNone/>
              <a:defRPr sz="1067" b="1"/>
            </a:lvl4pPr>
            <a:lvl5pPr marL="1219215" indent="0">
              <a:buNone/>
              <a:defRPr sz="1067" b="1"/>
            </a:lvl5pPr>
            <a:lvl6pPr marL="1524019" indent="0">
              <a:buNone/>
              <a:defRPr sz="1067" b="1"/>
            </a:lvl6pPr>
            <a:lvl7pPr marL="1828823" indent="0">
              <a:buNone/>
              <a:defRPr sz="1067" b="1"/>
            </a:lvl7pPr>
            <a:lvl8pPr marL="2133627" indent="0">
              <a:buNone/>
              <a:defRPr sz="1067" b="1"/>
            </a:lvl8pPr>
            <a:lvl9pPr marL="2438430" indent="0">
              <a:buNone/>
              <a:defRPr sz="106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2" y="2005648"/>
            <a:ext cx="2199085" cy="1354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067"/>
            </a:lvl1pPr>
            <a:lvl2pPr marL="304804" indent="0">
              <a:buNone/>
              <a:defRPr sz="1067"/>
            </a:lvl2pPr>
            <a:lvl3pPr marL="609608" indent="0">
              <a:buNone/>
              <a:defRPr sz="1067"/>
            </a:lvl3pPr>
            <a:lvl4pPr marL="914411" indent="0">
              <a:buNone/>
              <a:defRPr sz="1067"/>
            </a:lvl4pPr>
            <a:lvl5pPr marL="1219215" indent="0">
              <a:buNone/>
              <a:defRPr sz="1067"/>
            </a:lvl5pPr>
            <a:lvl6pPr marL="1524019" indent="0">
              <a:buNone/>
              <a:defRPr sz="1067"/>
            </a:lvl6pPr>
            <a:lvl7pPr marL="1828823" indent="0">
              <a:buNone/>
              <a:defRPr sz="1067"/>
            </a:lvl7pPr>
            <a:lvl8pPr marL="2133627" indent="0">
              <a:buNone/>
              <a:defRPr sz="1067"/>
            </a:lvl8pPr>
            <a:lvl9pPr marL="2438430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332234"/>
            <a:ext cx="2201998" cy="585946"/>
          </a:xfrm>
        </p:spPr>
        <p:txBody>
          <a:bodyPr anchor="t">
            <a:normAutofit/>
          </a:bodyPr>
          <a:lstStyle>
            <a:lvl1pPr marL="0" indent="0">
              <a:buNone/>
              <a:defRPr sz="933"/>
            </a:lvl1pPr>
            <a:lvl2pPr marL="304804" indent="0">
              <a:buNone/>
              <a:defRPr sz="800"/>
            </a:lvl2pPr>
            <a:lvl3pPr marL="609608" indent="0">
              <a:buNone/>
              <a:defRPr sz="667"/>
            </a:lvl3pPr>
            <a:lvl4pPr marL="914411" indent="0">
              <a:buNone/>
              <a:defRPr sz="600"/>
            </a:lvl4pPr>
            <a:lvl5pPr marL="1219215" indent="0">
              <a:buNone/>
              <a:defRPr sz="600"/>
            </a:lvl5pPr>
            <a:lvl6pPr marL="1524019" indent="0">
              <a:buNone/>
              <a:defRPr sz="600"/>
            </a:lvl6pPr>
            <a:lvl7pPr marL="1828823" indent="0">
              <a:buNone/>
              <a:defRPr sz="600"/>
            </a:lvl7pPr>
            <a:lvl8pPr marL="2133627" indent="0">
              <a:buNone/>
              <a:defRPr sz="600"/>
            </a:lvl8pPr>
            <a:lvl9pPr marL="2438430" indent="0">
              <a:buNone/>
              <a:defRPr sz="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000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9AE493-416D-4967-B3A4-60194FB241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67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24556"/>
            <a:ext cx="1971675" cy="51660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24556"/>
            <a:ext cx="5800725" cy="516607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84F60-7ED4-4E86-8424-D869D99101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2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24557"/>
            <a:ext cx="7886700" cy="117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22778"/>
            <a:ext cx="7675350" cy="386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3/5/2024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650090"/>
            <a:ext cx="30861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60F416D0-F5C8-4AAB-B97D-6A98FA2F7A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05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hdr="0" ftr="0" dt="0"/>
  <p:txStyles>
    <p:titleStyle>
      <a:lvl1pPr algn="l" defTabSz="609608" rtl="0" eaLnBrk="1" latinLnBrk="0" hangingPunct="1">
        <a:lnSpc>
          <a:spcPct val="90000"/>
        </a:lnSpc>
        <a:spcBef>
          <a:spcPct val="0"/>
        </a:spcBef>
        <a:buNone/>
        <a:defRPr sz="3911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52402" indent="-152402" algn="l" defTabSz="60960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133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457206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778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762010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422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066813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44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371617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44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676421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25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29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832" indent="-152402" algn="l" defTabSz="60960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4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8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11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15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19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23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27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30" algn="l" defTabSz="60960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0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05905A-AAE7-4441-80AC-C9867BB0EB6C}" type="slidenum">
              <a:rPr lang="en-US"/>
              <a:pPr/>
              <a:t>1</a:t>
            </a:fld>
            <a:endParaRPr lang="en-US"/>
          </a:p>
        </p:txBody>
      </p:sp>
      <p:pic>
        <p:nvPicPr>
          <p:cNvPr id="3076" name="Picture 3" descr="spring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313" y="230188"/>
            <a:ext cx="8404225" cy="564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028" name="Rectangle 4"/>
          <p:cNvSpPr>
            <a:spLocks noRot="1" noChangeArrowheads="1"/>
          </p:cNvSpPr>
          <p:nvPr/>
        </p:nvSpPr>
        <p:spPr bwMode="auto">
          <a:xfrm>
            <a:off x="457200" y="0"/>
            <a:ext cx="8229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lnSpc>
                <a:spcPct val="100000"/>
              </a:lnSpc>
              <a:defRPr/>
            </a:pP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Palatino" pitchFamily="18" charset="0"/>
              </a:rPr>
              <a:t>Advanced Software Engineering CSC-580</a:t>
            </a:r>
          </a:p>
        </p:txBody>
      </p:sp>
      <p:sp>
        <p:nvSpPr>
          <p:cNvPr id="1025029" name="Text Box 5"/>
          <p:cNvSpPr txBox="1">
            <a:spLocks noChangeArrowheads="1"/>
          </p:cNvSpPr>
          <p:nvPr/>
        </p:nvSpPr>
        <p:spPr bwMode="auto">
          <a:xfrm>
            <a:off x="3946525" y="5349875"/>
            <a:ext cx="1260410" cy="523220"/>
          </a:xfrm>
          <a:prstGeom prst="rect">
            <a:avLst/>
          </a:prstGeom>
          <a:solidFill>
            <a:schemeClr val="tx1"/>
          </a:solidFill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Times New Roman" pitchFamily="18" charset="0"/>
              </a:rPr>
              <a:t>Week 7</a:t>
            </a:r>
            <a:endParaRPr lang="en-US" sz="2800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0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47638"/>
            <a:ext cx="82296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Advanced Software Engineering CSC-580</a:t>
            </a:r>
          </a:p>
        </p:txBody>
      </p:sp>
      <p:sp>
        <p:nvSpPr>
          <p:cNvPr id="94105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808038" y="1647825"/>
            <a:ext cx="7529512" cy="35274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Lecture 7</a:t>
            </a:r>
          </a:p>
          <a:p>
            <a:pPr eaLnBrk="1" hangingPunct="1">
              <a:defRPr/>
            </a:pPr>
            <a:r>
              <a:rPr lang="en-US" dirty="0"/>
              <a:t>What we will cover: Finish OO Analysis with Dynamic Modeling</a:t>
            </a:r>
          </a:p>
        </p:txBody>
      </p:sp>
      <p:sp>
        <p:nvSpPr>
          <p:cNvPr id="40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85F587-2F2F-482F-9644-EB9E092863EA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11300" y="0"/>
            <a:ext cx="6089650" cy="1016000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sz="3200" dirty="0"/>
              <a:t>Dynamic Modeling</a:t>
            </a:r>
          </a:p>
        </p:txBody>
      </p:sp>
      <p:sp>
        <p:nvSpPr>
          <p:cNvPr id="99225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42913" y="1277938"/>
            <a:ext cx="8229600" cy="45196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300"/>
              </a:spcBef>
              <a:defRPr/>
            </a:pPr>
            <a:r>
              <a:rPr lang="en-US" sz="2800" dirty="0"/>
              <a:t>Now we want to build a </a:t>
            </a:r>
            <a:r>
              <a:rPr lang="en-US" sz="2800" b="1" dirty="0">
                <a:solidFill>
                  <a:srgbClr val="FFFF00"/>
                </a:solidFill>
                <a:effectLst/>
              </a:rPr>
              <a:t>dynamic</a:t>
            </a:r>
            <a:r>
              <a:rPr lang="en-US" sz="2800" dirty="0"/>
              <a:t> model</a:t>
            </a: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defRPr/>
            </a:pPr>
            <a:r>
              <a:rPr lang="en-US" sz="2400" dirty="0"/>
              <a:t>This dynamic model will provide us details into the actual messages that are being transferred between the objects</a:t>
            </a:r>
          </a:p>
          <a:p>
            <a:pPr lvl="1" eaLnBrk="1" hangingPunct="1">
              <a:lnSpc>
                <a:spcPct val="110000"/>
              </a:lnSpc>
              <a:spcBef>
                <a:spcPts val="300"/>
              </a:spcBef>
              <a:defRPr/>
            </a:pPr>
            <a:r>
              <a:rPr lang="en-US" sz="2400" dirty="0"/>
              <a:t>Initially we will have rough definitions of these messages, but as we move thru to the design of the software they will be detailed further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lang="en-US" sz="2800" dirty="0"/>
              <a:t>The behavioral model indicates how software will respond to external events or stimuli. 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D1493A-3654-4CE1-AB82-D7B25AD25B3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6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17575" y="203200"/>
            <a:ext cx="7366000" cy="1016000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sz="3200" dirty="0"/>
              <a:t>Steps to Creating the Behavioral (Dynamic) Model</a:t>
            </a:r>
          </a:p>
        </p:txBody>
      </p:sp>
      <p:sp>
        <p:nvSpPr>
          <p:cNvPr id="98304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14577" y="1582057"/>
            <a:ext cx="8229600" cy="410845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Clr>
                <a:srgbClr val="FFFF00"/>
              </a:buClr>
              <a:buSzPct val="90000"/>
              <a:buFont typeface="Wingdings" pitchFamily="2" charset="2"/>
              <a:buAutoNum type="arabicPeriod"/>
              <a:defRPr/>
            </a:pPr>
            <a:r>
              <a:rPr lang="en-US" dirty="0"/>
              <a:t>Evaluate all use-cases to fully understand the sequence of interaction within the system.</a:t>
            </a:r>
          </a:p>
          <a:p>
            <a:pPr marL="457200" indent="-457200" eaLnBrk="1" hangingPunct="1">
              <a:spcBef>
                <a:spcPts val="300"/>
              </a:spcBef>
              <a:buClr>
                <a:srgbClr val="FFFF00"/>
              </a:buClr>
              <a:buSzPct val="90000"/>
              <a:buFont typeface="Wingdings" pitchFamily="2" charset="2"/>
              <a:buAutoNum type="arabicPeriod"/>
              <a:defRPr/>
            </a:pPr>
            <a:r>
              <a:rPr lang="en-US" dirty="0"/>
              <a:t>Identify events that drive the interaction sequence and understand how these events relate to specific objects.</a:t>
            </a:r>
          </a:p>
          <a:p>
            <a:pPr marL="457200" indent="-457200" eaLnBrk="1" hangingPunct="1">
              <a:buClr>
                <a:srgbClr val="FFFF00"/>
              </a:buClr>
              <a:buSzPct val="90000"/>
              <a:buFont typeface="Wingdings" pitchFamily="2" charset="2"/>
              <a:buAutoNum type="arabicPeriod"/>
              <a:defRPr/>
            </a:pPr>
            <a:r>
              <a:rPr lang="en-US" dirty="0"/>
              <a:t>Create a </a:t>
            </a:r>
            <a:r>
              <a:rPr lang="en-US" b="1" dirty="0">
                <a:solidFill>
                  <a:srgbClr val="FFFF00"/>
                </a:solidFill>
                <a:effectLst/>
              </a:rPr>
              <a:t>Sequence Diagram</a:t>
            </a:r>
            <a:r>
              <a:rPr lang="en-US" dirty="0"/>
              <a:t> for each use-case.</a:t>
            </a:r>
          </a:p>
          <a:p>
            <a:pPr marL="457200" indent="-457200" eaLnBrk="1" hangingPunct="1">
              <a:buClr>
                <a:srgbClr val="FFFF00"/>
              </a:buClr>
              <a:buSzPct val="90000"/>
              <a:buFont typeface="Wingdings" pitchFamily="2" charset="2"/>
              <a:buAutoNum type="arabicPeriod"/>
              <a:defRPr/>
            </a:pPr>
            <a:r>
              <a:rPr lang="en-US" dirty="0"/>
              <a:t>Build </a:t>
            </a:r>
            <a:r>
              <a:rPr lang="en-US" b="1" dirty="0">
                <a:solidFill>
                  <a:srgbClr val="FFFF00"/>
                </a:solidFill>
                <a:effectLst/>
              </a:rPr>
              <a:t>State Diagrams</a:t>
            </a:r>
            <a:r>
              <a:rPr lang="en-US" dirty="0"/>
              <a:t> as needed to model the behavior within any of the objects that must generate a message.</a:t>
            </a:r>
          </a:p>
          <a:p>
            <a:pPr marL="457200" indent="-457200" eaLnBrk="1" hangingPunct="1">
              <a:buClr>
                <a:srgbClr val="FFFF00"/>
              </a:buClr>
              <a:buSzPct val="90000"/>
              <a:buFont typeface="Wingdings" pitchFamily="2" charset="2"/>
              <a:buAutoNum type="arabicPeriod"/>
              <a:defRPr/>
            </a:pPr>
            <a:r>
              <a:rPr lang="en-US" dirty="0"/>
              <a:t>Review the behavioral model to verify accuracy and consistency.</a:t>
            </a:r>
          </a:p>
        </p:txBody>
      </p:sp>
      <p:sp>
        <p:nvSpPr>
          <p:cNvPr id="122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B3EB7A-3BF1-43CC-A3D8-B474678441E1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8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12750" y="0"/>
            <a:ext cx="82296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The Sequence Diagram</a:t>
            </a:r>
          </a:p>
        </p:txBody>
      </p:sp>
      <p:sp>
        <p:nvSpPr>
          <p:cNvPr id="9840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044575"/>
            <a:ext cx="8229600" cy="4695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sequence diagram adds the dynamic information missing in the Class Diagrams shown earlier</a:t>
            </a:r>
          </a:p>
          <a:p>
            <a:pPr eaLnBrk="1" hangingPunct="1">
              <a:defRPr/>
            </a:pPr>
            <a:r>
              <a:rPr lang="en-US" dirty="0"/>
              <a:t>The textbook defines a relatively complex Sequence Diagram</a:t>
            </a:r>
          </a:p>
          <a:p>
            <a:pPr lvl="1" eaLnBrk="1" hangingPunct="1">
              <a:defRPr/>
            </a:pPr>
            <a:r>
              <a:rPr lang="en-US" dirty="0"/>
              <a:t>Again, I think it is better to simplify things a little and only show the messages on this diagram.</a:t>
            </a:r>
          </a:p>
          <a:p>
            <a:pPr lvl="1" eaLnBrk="1" hangingPunct="1">
              <a:defRPr/>
            </a:pPr>
            <a:r>
              <a:rPr lang="en-US" dirty="0"/>
              <a:t>Show the state diagrams that generate the output messages from input messages on separate diagrams (to follow)</a:t>
            </a:r>
          </a:p>
          <a:p>
            <a:pPr eaLnBrk="1" hangingPunct="1">
              <a:defRPr/>
            </a:pPr>
            <a:r>
              <a:rPr lang="en-US" dirty="0"/>
              <a:t>Therefore, our Sequence Diagram will have:</a:t>
            </a:r>
          </a:p>
          <a:p>
            <a:pPr lvl="1" eaLnBrk="1" hangingPunct="1">
              <a:defRPr/>
            </a:pPr>
            <a:r>
              <a:rPr lang="en-US" dirty="0"/>
              <a:t>Objects</a:t>
            </a:r>
          </a:p>
          <a:p>
            <a:pPr lvl="1" eaLnBrk="1" hangingPunct="1">
              <a:defRPr/>
            </a:pPr>
            <a:r>
              <a:rPr lang="en-US" dirty="0"/>
              <a:t>Messages (solid arrow is message)</a:t>
            </a:r>
          </a:p>
          <a:p>
            <a:pPr lvl="1" eaLnBrk="1" hangingPunct="1">
              <a:defRPr/>
            </a:pPr>
            <a:r>
              <a:rPr lang="en-US" dirty="0"/>
              <a:t>Returns (return messages dashed is response, if needed))</a:t>
            </a:r>
          </a:p>
        </p:txBody>
      </p:sp>
      <p:sp>
        <p:nvSpPr>
          <p:cNvPr id="133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3E1BA2C-099D-4564-AFCE-49822CBE4F3E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5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12750" y="0"/>
            <a:ext cx="82296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The Sequence Diagram II</a:t>
            </a:r>
          </a:p>
        </p:txBody>
      </p:sp>
      <p:sp>
        <p:nvSpPr>
          <p:cNvPr id="99328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044575"/>
            <a:ext cx="8229600" cy="46958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>
                <a:solidFill>
                  <a:srgbClr val="FFFF00"/>
                </a:solidFill>
              </a:rPr>
              <a:t>Our Sequence Diagram will have:</a:t>
            </a:r>
          </a:p>
          <a:p>
            <a:pPr lvl="1" eaLnBrk="1" hangingPunct="1">
              <a:defRPr/>
            </a:pPr>
            <a:r>
              <a:rPr lang="en-US" sz="2400"/>
              <a:t>Objects</a:t>
            </a:r>
          </a:p>
          <a:p>
            <a:pPr lvl="1" eaLnBrk="1" hangingPunct="1">
              <a:defRPr/>
            </a:pPr>
            <a:r>
              <a:rPr lang="en-US" sz="2400"/>
              <a:t>Messages (solid arrow is message)</a:t>
            </a:r>
          </a:p>
          <a:p>
            <a:pPr lvl="1" eaLnBrk="1" hangingPunct="1">
              <a:defRPr/>
            </a:pPr>
            <a:r>
              <a:rPr lang="en-US" sz="2400"/>
              <a:t>Return messages (return messages dashed is response, if needed))</a:t>
            </a:r>
          </a:p>
          <a:p>
            <a:pPr lvl="1" eaLnBrk="1" hangingPunct="1">
              <a:defRPr/>
            </a:pPr>
            <a:r>
              <a:rPr lang="en-US" sz="2400"/>
              <a:t>Durations</a:t>
            </a:r>
          </a:p>
        </p:txBody>
      </p:sp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31D7A3-87FC-49F6-AA00-296B28AEDEF4}" type="slidenum">
              <a:rPr lang="en-US"/>
              <a:pPr/>
              <a:t>6</a:t>
            </a:fld>
            <a:endParaRPr lang="en-US"/>
          </a:p>
        </p:txBody>
      </p:sp>
      <p:grpSp>
        <p:nvGrpSpPr>
          <p:cNvPr id="14341" name="Group 6"/>
          <p:cNvGrpSpPr>
            <a:grpSpLocks/>
          </p:cNvGrpSpPr>
          <p:nvPr/>
        </p:nvGrpSpPr>
        <p:grpSpPr bwMode="auto">
          <a:xfrm>
            <a:off x="1177925" y="4471988"/>
            <a:ext cx="1406525" cy="609600"/>
            <a:chOff x="860" y="2551"/>
            <a:chExt cx="886" cy="384"/>
          </a:xfrm>
        </p:grpSpPr>
        <p:sp>
          <p:nvSpPr>
            <p:cNvPr id="14350" name="Rectangle 4"/>
            <p:cNvSpPr>
              <a:spLocks noChangeArrowheads="1"/>
            </p:cNvSpPr>
            <p:nvPr/>
          </p:nvSpPr>
          <p:spPr bwMode="auto">
            <a:xfrm>
              <a:off x="860" y="2551"/>
              <a:ext cx="886" cy="3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1" name="Text Box 5"/>
            <p:cNvSpPr txBox="1">
              <a:spLocks noChangeArrowheads="1"/>
            </p:cNvSpPr>
            <p:nvPr/>
          </p:nvSpPr>
          <p:spPr bwMode="auto">
            <a:xfrm>
              <a:off x="975" y="2651"/>
              <a:ext cx="620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objects</a:t>
              </a:r>
            </a:p>
          </p:txBody>
        </p:sp>
      </p:grpSp>
      <p:grpSp>
        <p:nvGrpSpPr>
          <p:cNvPr id="14342" name="Group 12"/>
          <p:cNvGrpSpPr>
            <a:grpSpLocks/>
          </p:cNvGrpSpPr>
          <p:nvPr/>
        </p:nvGrpSpPr>
        <p:grpSpPr bwMode="auto">
          <a:xfrm>
            <a:off x="3997325" y="4008438"/>
            <a:ext cx="1697038" cy="1317625"/>
            <a:chOff x="2134" y="2296"/>
            <a:chExt cx="1069" cy="830"/>
          </a:xfrm>
        </p:grpSpPr>
        <p:sp>
          <p:nvSpPr>
            <p:cNvPr id="14346" name="Line 8"/>
            <p:cNvSpPr>
              <a:spLocks noChangeShapeType="1"/>
            </p:cNvSpPr>
            <p:nvPr/>
          </p:nvSpPr>
          <p:spPr bwMode="auto">
            <a:xfrm>
              <a:off x="2176" y="2533"/>
              <a:ext cx="10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Text Box 9"/>
            <p:cNvSpPr txBox="1">
              <a:spLocks noChangeArrowheads="1"/>
            </p:cNvSpPr>
            <p:nvPr/>
          </p:nvSpPr>
          <p:spPr bwMode="auto">
            <a:xfrm>
              <a:off x="2215" y="2296"/>
              <a:ext cx="844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Message 1</a:t>
              </a:r>
            </a:p>
          </p:txBody>
        </p:sp>
        <p:sp>
          <p:nvSpPr>
            <p:cNvPr id="14348" name="Line 10"/>
            <p:cNvSpPr>
              <a:spLocks noChangeShapeType="1"/>
            </p:cNvSpPr>
            <p:nvPr/>
          </p:nvSpPr>
          <p:spPr bwMode="auto">
            <a:xfrm>
              <a:off x="2134" y="2785"/>
              <a:ext cx="10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Text Box 11"/>
            <p:cNvSpPr txBox="1">
              <a:spLocks noChangeArrowheads="1"/>
            </p:cNvSpPr>
            <p:nvPr/>
          </p:nvSpPr>
          <p:spPr bwMode="auto">
            <a:xfrm>
              <a:off x="2304" y="2912"/>
              <a:ext cx="580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Return</a:t>
              </a:r>
            </a:p>
          </p:txBody>
        </p:sp>
      </p:grpSp>
      <p:grpSp>
        <p:nvGrpSpPr>
          <p:cNvPr id="14343" name="Group 14"/>
          <p:cNvGrpSpPr>
            <a:grpSpLocks/>
          </p:cNvGrpSpPr>
          <p:nvPr/>
        </p:nvGrpSpPr>
        <p:grpSpPr bwMode="auto">
          <a:xfrm>
            <a:off x="7864475" y="2767013"/>
            <a:ext cx="292100" cy="2857500"/>
            <a:chOff x="4113" y="1907"/>
            <a:chExt cx="184" cy="1800"/>
          </a:xfrm>
        </p:grpSpPr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4113" y="2504"/>
              <a:ext cx="184" cy="7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5" name="Line 13"/>
            <p:cNvSpPr>
              <a:spLocks noChangeShapeType="1"/>
            </p:cNvSpPr>
            <p:nvPr/>
          </p:nvSpPr>
          <p:spPr bwMode="auto">
            <a:xfrm flipH="1">
              <a:off x="4192" y="1907"/>
              <a:ext cx="9" cy="1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745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42913" y="0"/>
            <a:ext cx="82296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Overview of the Sequence Diagram</a:t>
            </a:r>
          </a:p>
        </p:txBody>
      </p:sp>
      <p:sp>
        <p:nvSpPr>
          <p:cNvPr id="15362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E3C0B7-9A32-4E72-B779-0199BAFCE671}" type="slidenum">
              <a:rPr lang="en-US"/>
              <a:pPr/>
              <a:t>7</a:t>
            </a:fld>
            <a:endParaRPr lang="en-US"/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1292225" y="1495425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1444625" y="1625600"/>
            <a:ext cx="1085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Object 1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3055938" y="1503363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3208338" y="1633538"/>
            <a:ext cx="1085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Object 2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4929188" y="1503363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8"/>
          <p:cNvSpPr txBox="1">
            <a:spLocks noChangeArrowheads="1"/>
          </p:cNvSpPr>
          <p:nvPr/>
        </p:nvSpPr>
        <p:spPr bwMode="auto">
          <a:xfrm>
            <a:off x="5081588" y="1633538"/>
            <a:ext cx="1085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Object 3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6859588" y="1489075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7011988" y="1619250"/>
            <a:ext cx="1085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Object 4</a:t>
            </a: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1798638" y="2452688"/>
            <a:ext cx="276225" cy="2581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Rectangle 12"/>
          <p:cNvSpPr>
            <a:spLocks noChangeArrowheads="1"/>
          </p:cNvSpPr>
          <p:nvPr/>
        </p:nvSpPr>
        <p:spPr bwMode="auto">
          <a:xfrm>
            <a:off x="7423150" y="4013200"/>
            <a:ext cx="261938" cy="4778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3"/>
          <p:cNvSpPr>
            <a:spLocks noChangeArrowheads="1"/>
          </p:cNvSpPr>
          <p:nvPr/>
        </p:nvSpPr>
        <p:spPr bwMode="auto">
          <a:xfrm>
            <a:off x="5440363" y="3538538"/>
            <a:ext cx="292100" cy="1219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4"/>
          <p:cNvSpPr>
            <a:spLocks noChangeArrowheads="1"/>
          </p:cNvSpPr>
          <p:nvPr/>
        </p:nvSpPr>
        <p:spPr bwMode="auto">
          <a:xfrm>
            <a:off x="3621088" y="2908300"/>
            <a:ext cx="276225" cy="1858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>
            <a:off x="711200" y="2670175"/>
            <a:ext cx="1058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Text Box 16"/>
          <p:cNvSpPr txBox="1">
            <a:spLocks noChangeArrowheads="1"/>
          </p:cNvSpPr>
          <p:nvPr/>
        </p:nvSpPr>
        <p:spPr bwMode="auto">
          <a:xfrm>
            <a:off x="241300" y="2846388"/>
            <a:ext cx="114935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External</a:t>
            </a:r>
          </a:p>
          <a:p>
            <a:pPr algn="ctr"/>
            <a:r>
              <a:rPr lang="en-US"/>
              <a:t>Stimulus</a:t>
            </a:r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>
            <a:off x="2111375" y="2938463"/>
            <a:ext cx="1479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Text Box 18"/>
          <p:cNvSpPr txBox="1">
            <a:spLocks noChangeArrowheads="1"/>
          </p:cNvSpPr>
          <p:nvPr/>
        </p:nvSpPr>
        <p:spPr bwMode="auto">
          <a:xfrm>
            <a:off x="2173288" y="2490788"/>
            <a:ext cx="1339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Message 1</a:t>
            </a:r>
          </a:p>
        </p:txBody>
      </p:sp>
      <p:sp>
        <p:nvSpPr>
          <p:cNvPr id="15380" name="Line 19"/>
          <p:cNvSpPr>
            <a:spLocks noChangeShapeType="1"/>
          </p:cNvSpPr>
          <p:nvPr/>
        </p:nvSpPr>
        <p:spPr bwMode="auto">
          <a:xfrm>
            <a:off x="3932238" y="3556000"/>
            <a:ext cx="153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81" name="Text Box 20"/>
          <p:cNvSpPr txBox="1">
            <a:spLocks noChangeArrowheads="1"/>
          </p:cNvSpPr>
          <p:nvPr/>
        </p:nvSpPr>
        <p:spPr bwMode="auto">
          <a:xfrm>
            <a:off x="3994150" y="3108325"/>
            <a:ext cx="13398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Message 2</a:t>
            </a:r>
          </a:p>
        </p:txBody>
      </p:sp>
      <p:sp>
        <p:nvSpPr>
          <p:cNvPr id="15382" name="Line 21"/>
          <p:cNvSpPr>
            <a:spLocks noChangeShapeType="1"/>
          </p:cNvSpPr>
          <p:nvPr/>
        </p:nvSpPr>
        <p:spPr bwMode="auto">
          <a:xfrm>
            <a:off x="5791200" y="4035425"/>
            <a:ext cx="16113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Text Box 22"/>
          <p:cNvSpPr txBox="1">
            <a:spLocks noChangeArrowheads="1"/>
          </p:cNvSpPr>
          <p:nvPr/>
        </p:nvSpPr>
        <p:spPr bwMode="auto">
          <a:xfrm>
            <a:off x="5934576" y="3659188"/>
            <a:ext cx="1176925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Message 3</a:t>
            </a:r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>
            <a:off x="5724525" y="4435475"/>
            <a:ext cx="169703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5" name="Text Box 24"/>
          <p:cNvSpPr txBox="1">
            <a:spLocks noChangeArrowheads="1"/>
          </p:cNvSpPr>
          <p:nvPr/>
        </p:nvSpPr>
        <p:spPr bwMode="auto">
          <a:xfrm>
            <a:off x="5994400" y="4637088"/>
            <a:ext cx="9207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Return</a:t>
            </a:r>
          </a:p>
        </p:txBody>
      </p:sp>
      <p:sp>
        <p:nvSpPr>
          <p:cNvPr id="15386" name="Line 25"/>
          <p:cNvSpPr>
            <a:spLocks noChangeShapeType="1"/>
          </p:cNvSpPr>
          <p:nvPr/>
        </p:nvSpPr>
        <p:spPr bwMode="auto">
          <a:xfrm flipH="1">
            <a:off x="1930400" y="2119313"/>
            <a:ext cx="14288" cy="29162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7" name="Line 26"/>
          <p:cNvSpPr>
            <a:spLocks noChangeShapeType="1"/>
          </p:cNvSpPr>
          <p:nvPr/>
        </p:nvSpPr>
        <p:spPr bwMode="auto">
          <a:xfrm flipH="1">
            <a:off x="3752850" y="2127250"/>
            <a:ext cx="14288" cy="28575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8" name="Line 27"/>
          <p:cNvSpPr>
            <a:spLocks noChangeShapeType="1"/>
          </p:cNvSpPr>
          <p:nvPr/>
        </p:nvSpPr>
        <p:spPr bwMode="auto">
          <a:xfrm flipH="1">
            <a:off x="5565775" y="2141538"/>
            <a:ext cx="14288" cy="311943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9" name="Line 28"/>
          <p:cNvSpPr>
            <a:spLocks noChangeShapeType="1"/>
          </p:cNvSpPr>
          <p:nvPr/>
        </p:nvSpPr>
        <p:spPr bwMode="auto">
          <a:xfrm flipH="1">
            <a:off x="7542213" y="2125663"/>
            <a:ext cx="12700" cy="30749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0" name="Text Box 29"/>
          <p:cNvSpPr txBox="1">
            <a:spLocks noChangeArrowheads="1"/>
          </p:cNvSpPr>
          <p:nvPr/>
        </p:nvSpPr>
        <p:spPr bwMode="auto">
          <a:xfrm>
            <a:off x="763588" y="5326063"/>
            <a:ext cx="7343775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First draw the objects and the order and the message arrows, and</a:t>
            </a:r>
          </a:p>
          <a:p>
            <a:r>
              <a:rPr lang="en-US"/>
              <a:t>then fill in the actual possible message names.</a:t>
            </a:r>
          </a:p>
        </p:txBody>
      </p:sp>
      <p:sp>
        <p:nvSpPr>
          <p:cNvPr id="15391" name="Line 30"/>
          <p:cNvSpPr>
            <a:spLocks noChangeShapeType="1"/>
          </p:cNvSpPr>
          <p:nvPr/>
        </p:nvSpPr>
        <p:spPr bwMode="auto">
          <a:xfrm>
            <a:off x="3933825" y="4646613"/>
            <a:ext cx="152241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2" name="Line 31"/>
          <p:cNvSpPr>
            <a:spLocks noChangeShapeType="1"/>
          </p:cNvSpPr>
          <p:nvPr/>
        </p:nvSpPr>
        <p:spPr bwMode="auto">
          <a:xfrm>
            <a:off x="2103438" y="4703763"/>
            <a:ext cx="14652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41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42913" y="0"/>
            <a:ext cx="82296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Example of a Sequence Diagram</a:t>
            </a:r>
          </a:p>
        </p:txBody>
      </p:sp>
      <p:sp>
        <p:nvSpPr>
          <p:cNvPr id="1638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252173" y="5554663"/>
            <a:ext cx="631825" cy="422275"/>
          </a:xfrm>
          <a:noFill/>
        </p:spPr>
        <p:txBody>
          <a:bodyPr/>
          <a:lstStyle/>
          <a:p>
            <a:fld id="{A1C63671-B471-4F89-9812-CD27B67C73C9}" type="slidenum">
              <a:rPr lang="en-US"/>
              <a:pPr/>
              <a:t>8</a:t>
            </a:fld>
            <a:endParaRPr lang="en-US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6052260" y="2409825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6115373" y="2404613"/>
            <a:ext cx="1300421" cy="5909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Student</a:t>
            </a:r>
          </a:p>
          <a:p>
            <a:r>
              <a:rPr lang="en-US" dirty="0"/>
              <a:t>Transcript</a:t>
            </a:r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4462936" y="2405063"/>
            <a:ext cx="1406525" cy="622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Text Box 6"/>
          <p:cNvSpPr txBox="1">
            <a:spLocks noChangeArrowheads="1"/>
          </p:cNvSpPr>
          <p:nvPr/>
        </p:nvSpPr>
        <p:spPr bwMode="auto">
          <a:xfrm>
            <a:off x="4672486" y="2578100"/>
            <a:ext cx="9715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Course</a:t>
            </a: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6660272" y="4352926"/>
            <a:ext cx="261938" cy="86239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5013798" y="4300538"/>
            <a:ext cx="290513" cy="1023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V="1">
            <a:off x="1907737" y="4469605"/>
            <a:ext cx="3106062" cy="714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2033149" y="4073525"/>
            <a:ext cx="156210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AddCourse()</a:t>
            </a:r>
          </a:p>
        </p:txBody>
      </p:sp>
      <p:sp>
        <p:nvSpPr>
          <p:cNvPr id="16396" name="Line 11"/>
          <p:cNvSpPr>
            <a:spLocks noChangeShapeType="1"/>
          </p:cNvSpPr>
          <p:nvPr/>
        </p:nvSpPr>
        <p:spPr bwMode="auto">
          <a:xfrm flipH="1">
            <a:off x="6777747" y="3092450"/>
            <a:ext cx="0" cy="27257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7" name="Line 12"/>
          <p:cNvSpPr>
            <a:spLocks noChangeShapeType="1"/>
          </p:cNvSpPr>
          <p:nvPr/>
        </p:nvSpPr>
        <p:spPr bwMode="auto">
          <a:xfrm flipH="1">
            <a:off x="5159848" y="3098800"/>
            <a:ext cx="14288" cy="299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398" name="Group 13"/>
          <p:cNvGrpSpPr>
            <a:grpSpLocks/>
          </p:cNvGrpSpPr>
          <p:nvPr/>
        </p:nvGrpSpPr>
        <p:grpSpPr bwMode="auto">
          <a:xfrm>
            <a:off x="3090863" y="993775"/>
            <a:ext cx="5292725" cy="754063"/>
            <a:chOff x="539" y="2638"/>
            <a:chExt cx="3334" cy="475"/>
          </a:xfrm>
        </p:grpSpPr>
        <p:sp>
          <p:nvSpPr>
            <p:cNvPr id="16421" name="Text Box 14"/>
            <p:cNvSpPr txBox="1">
              <a:spLocks noChangeArrowheads="1"/>
            </p:cNvSpPr>
            <p:nvPr/>
          </p:nvSpPr>
          <p:spPr bwMode="auto">
            <a:xfrm>
              <a:off x="539" y="2770"/>
              <a:ext cx="1098" cy="22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Student</a:t>
              </a:r>
            </a:p>
          </p:txBody>
        </p:sp>
        <p:sp>
          <p:nvSpPr>
            <p:cNvPr id="16422" name="Text Box 15"/>
            <p:cNvSpPr txBox="1">
              <a:spLocks noChangeArrowheads="1"/>
            </p:cNvSpPr>
            <p:nvPr/>
          </p:nvSpPr>
          <p:spPr bwMode="auto">
            <a:xfrm>
              <a:off x="2775" y="2785"/>
              <a:ext cx="1098" cy="22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Course</a:t>
              </a:r>
            </a:p>
          </p:txBody>
        </p:sp>
        <p:sp>
          <p:nvSpPr>
            <p:cNvPr id="16423" name="Line 16"/>
            <p:cNvSpPr>
              <a:spLocks noChangeShapeType="1"/>
            </p:cNvSpPr>
            <p:nvPr/>
          </p:nvSpPr>
          <p:spPr bwMode="auto">
            <a:xfrm flipV="1">
              <a:off x="1646" y="2880"/>
              <a:ext cx="11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Text Box 17"/>
            <p:cNvSpPr txBox="1">
              <a:spLocks noChangeArrowheads="1"/>
            </p:cNvSpPr>
            <p:nvPr/>
          </p:nvSpPr>
          <p:spPr bwMode="auto">
            <a:xfrm>
              <a:off x="1981" y="2899"/>
              <a:ext cx="484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takes</a:t>
              </a:r>
            </a:p>
          </p:txBody>
        </p:sp>
        <p:sp>
          <p:nvSpPr>
            <p:cNvPr id="16425" name="Text Box 18"/>
            <p:cNvSpPr txBox="1">
              <a:spLocks noChangeArrowheads="1"/>
            </p:cNvSpPr>
            <p:nvPr/>
          </p:nvSpPr>
          <p:spPr bwMode="auto">
            <a:xfrm>
              <a:off x="1661" y="2643"/>
              <a:ext cx="436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0..15</a:t>
              </a:r>
            </a:p>
          </p:txBody>
        </p:sp>
        <p:sp>
          <p:nvSpPr>
            <p:cNvPr id="16426" name="Text Box 19"/>
            <p:cNvSpPr txBox="1">
              <a:spLocks noChangeArrowheads="1"/>
            </p:cNvSpPr>
            <p:nvPr/>
          </p:nvSpPr>
          <p:spPr bwMode="auto">
            <a:xfrm>
              <a:off x="2370" y="2638"/>
              <a:ext cx="356" cy="2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1..5</a:t>
              </a:r>
            </a:p>
          </p:txBody>
        </p:sp>
      </p:grpSp>
      <p:sp>
        <p:nvSpPr>
          <p:cNvPr id="16399" name="Text Box 20"/>
          <p:cNvSpPr txBox="1">
            <a:spLocks noChangeArrowheads="1"/>
          </p:cNvSpPr>
          <p:nvPr/>
        </p:nvSpPr>
        <p:spPr bwMode="auto">
          <a:xfrm>
            <a:off x="1703107" y="1163706"/>
            <a:ext cx="138691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Recall the student</a:t>
            </a:r>
          </a:p>
          <a:p>
            <a:r>
              <a:rPr lang="en-US" sz="1200" dirty="0"/>
              <a:t>course association:</a:t>
            </a:r>
          </a:p>
        </p:txBody>
      </p:sp>
      <p:sp>
        <p:nvSpPr>
          <p:cNvPr id="16400" name="Text Box 21"/>
          <p:cNvSpPr txBox="1">
            <a:spLocks noChangeArrowheads="1"/>
          </p:cNvSpPr>
          <p:nvPr/>
        </p:nvSpPr>
        <p:spPr bwMode="auto">
          <a:xfrm>
            <a:off x="13823" y="1613753"/>
            <a:ext cx="209704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/>
              <a:t>For a student to add</a:t>
            </a:r>
          </a:p>
          <a:p>
            <a:r>
              <a:rPr lang="en-US" sz="1600" dirty="0"/>
              <a:t>a course the sequence </a:t>
            </a:r>
          </a:p>
          <a:p>
            <a:r>
              <a:rPr lang="en-US" sz="1600" dirty="0"/>
              <a:t>diagram could be:</a:t>
            </a:r>
          </a:p>
        </p:txBody>
      </p:sp>
      <p:sp>
        <p:nvSpPr>
          <p:cNvPr id="16401" name="Text Box 22"/>
          <p:cNvSpPr txBox="1">
            <a:spLocks noChangeArrowheads="1"/>
          </p:cNvSpPr>
          <p:nvPr/>
        </p:nvSpPr>
        <p:spPr bwMode="auto">
          <a:xfrm>
            <a:off x="3529683" y="5490059"/>
            <a:ext cx="173990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Course Added</a:t>
            </a:r>
          </a:p>
          <a:p>
            <a:pPr algn="ctr"/>
            <a:r>
              <a:rPr lang="en-US" dirty="0"/>
              <a:t>Message</a:t>
            </a:r>
          </a:p>
        </p:txBody>
      </p:sp>
      <p:sp>
        <p:nvSpPr>
          <p:cNvPr id="16402" name="Line 23"/>
          <p:cNvSpPr>
            <a:spLocks noChangeShapeType="1"/>
          </p:cNvSpPr>
          <p:nvPr/>
        </p:nvSpPr>
        <p:spPr bwMode="auto">
          <a:xfrm>
            <a:off x="1896624" y="3852863"/>
            <a:ext cx="143668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3" name="Rectangle 24"/>
          <p:cNvSpPr>
            <a:spLocks noChangeArrowheads="1"/>
          </p:cNvSpPr>
          <p:nvPr/>
        </p:nvSpPr>
        <p:spPr bwMode="auto">
          <a:xfrm>
            <a:off x="1110811" y="2416175"/>
            <a:ext cx="1406525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Text Box 25"/>
          <p:cNvSpPr txBox="1">
            <a:spLocks noChangeArrowheads="1"/>
          </p:cNvSpPr>
          <p:nvPr/>
        </p:nvSpPr>
        <p:spPr bwMode="auto">
          <a:xfrm>
            <a:off x="1218697" y="2427287"/>
            <a:ext cx="1219200" cy="587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Add/Drop</a:t>
            </a:r>
          </a:p>
          <a:p>
            <a:r>
              <a:rPr lang="en-US" dirty="0"/>
              <a:t>Screen</a:t>
            </a:r>
          </a:p>
        </p:txBody>
      </p:sp>
      <p:sp>
        <p:nvSpPr>
          <p:cNvPr id="16405" name="Rectangle 26"/>
          <p:cNvSpPr>
            <a:spLocks noChangeArrowheads="1"/>
          </p:cNvSpPr>
          <p:nvPr/>
        </p:nvSpPr>
        <p:spPr bwMode="auto">
          <a:xfrm>
            <a:off x="1602936" y="3387725"/>
            <a:ext cx="304800" cy="2249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6" name="Line 27"/>
          <p:cNvSpPr>
            <a:spLocks noChangeShapeType="1"/>
          </p:cNvSpPr>
          <p:nvPr/>
        </p:nvSpPr>
        <p:spPr bwMode="auto">
          <a:xfrm flipH="1">
            <a:off x="1763274" y="3040063"/>
            <a:ext cx="0" cy="30114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07" name="Line 28"/>
          <p:cNvSpPr>
            <a:spLocks noChangeShapeType="1"/>
          </p:cNvSpPr>
          <p:nvPr/>
        </p:nvSpPr>
        <p:spPr bwMode="auto">
          <a:xfrm>
            <a:off x="537679" y="3444875"/>
            <a:ext cx="9286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08" name="Text Box 29"/>
          <p:cNvSpPr txBox="1">
            <a:spLocks noChangeArrowheads="1"/>
          </p:cNvSpPr>
          <p:nvPr/>
        </p:nvSpPr>
        <p:spPr bwMode="auto">
          <a:xfrm>
            <a:off x="84374" y="3509458"/>
            <a:ext cx="1192955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External</a:t>
            </a:r>
          </a:p>
          <a:p>
            <a:r>
              <a:rPr lang="en-US" dirty="0"/>
              <a:t>Stimulus:</a:t>
            </a:r>
          </a:p>
          <a:p>
            <a:r>
              <a:rPr lang="en-US" dirty="0"/>
              <a:t>Student at</a:t>
            </a:r>
          </a:p>
          <a:p>
            <a:r>
              <a:rPr lang="en-US" dirty="0"/>
              <a:t>PC</a:t>
            </a:r>
          </a:p>
        </p:txBody>
      </p:sp>
      <p:sp>
        <p:nvSpPr>
          <p:cNvPr id="16409" name="Line 30"/>
          <p:cNvSpPr>
            <a:spLocks noChangeShapeType="1"/>
          </p:cNvSpPr>
          <p:nvPr/>
        </p:nvSpPr>
        <p:spPr bwMode="auto">
          <a:xfrm flipV="1">
            <a:off x="5340823" y="4413250"/>
            <a:ext cx="1319449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10" name="Text Box 31"/>
          <p:cNvSpPr txBox="1">
            <a:spLocks noChangeArrowheads="1"/>
          </p:cNvSpPr>
          <p:nvPr/>
        </p:nvSpPr>
        <p:spPr bwMode="auto">
          <a:xfrm>
            <a:off x="5007561" y="3938807"/>
            <a:ext cx="1980029" cy="3416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eval_transcript</a:t>
            </a:r>
            <a:r>
              <a:rPr lang="en-US" dirty="0"/>
              <a:t>()</a:t>
            </a:r>
          </a:p>
        </p:txBody>
      </p:sp>
      <p:sp>
        <p:nvSpPr>
          <p:cNvPr id="16411" name="Line 32"/>
          <p:cNvSpPr>
            <a:spLocks noChangeShapeType="1"/>
          </p:cNvSpPr>
          <p:nvPr/>
        </p:nvSpPr>
        <p:spPr bwMode="auto">
          <a:xfrm>
            <a:off x="5312248" y="4614863"/>
            <a:ext cx="1348024" cy="1428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2" name="Text Box 33"/>
          <p:cNvSpPr txBox="1">
            <a:spLocks noChangeArrowheads="1"/>
          </p:cNvSpPr>
          <p:nvPr/>
        </p:nvSpPr>
        <p:spPr bwMode="auto">
          <a:xfrm>
            <a:off x="5167860" y="4662539"/>
            <a:ext cx="1659430" cy="5909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Transcript</a:t>
            </a:r>
          </a:p>
          <a:p>
            <a:pPr algn="ctr"/>
            <a:r>
              <a:rPr lang="en-US" dirty="0" err="1"/>
              <a:t>Eval</a:t>
            </a:r>
            <a:r>
              <a:rPr lang="en-US" dirty="0"/>
              <a:t> returned</a:t>
            </a:r>
          </a:p>
        </p:txBody>
      </p:sp>
      <p:sp>
        <p:nvSpPr>
          <p:cNvPr id="16413" name="Line 34"/>
          <p:cNvSpPr>
            <a:spLocks noChangeShapeType="1"/>
          </p:cNvSpPr>
          <p:nvPr/>
        </p:nvSpPr>
        <p:spPr bwMode="auto">
          <a:xfrm>
            <a:off x="5337648" y="5324475"/>
            <a:ext cx="290805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414" name="Text Box 35"/>
          <p:cNvSpPr txBox="1">
            <a:spLocks noChangeArrowheads="1"/>
          </p:cNvSpPr>
          <p:nvPr/>
        </p:nvSpPr>
        <p:spPr bwMode="auto">
          <a:xfrm>
            <a:off x="6862768" y="4903071"/>
            <a:ext cx="156210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AddCourse</a:t>
            </a:r>
            <a:r>
              <a:rPr lang="en-US" dirty="0"/>
              <a:t>()</a:t>
            </a:r>
          </a:p>
        </p:txBody>
      </p:sp>
      <p:sp>
        <p:nvSpPr>
          <p:cNvPr id="16415" name="Rectangle 36"/>
          <p:cNvSpPr>
            <a:spLocks noChangeArrowheads="1"/>
          </p:cNvSpPr>
          <p:nvPr/>
        </p:nvSpPr>
        <p:spPr bwMode="auto">
          <a:xfrm>
            <a:off x="2844361" y="2405063"/>
            <a:ext cx="1406525" cy="622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6" name="Text Box 37"/>
          <p:cNvSpPr txBox="1">
            <a:spLocks noChangeArrowheads="1"/>
          </p:cNvSpPr>
          <p:nvPr/>
        </p:nvSpPr>
        <p:spPr bwMode="auto">
          <a:xfrm>
            <a:off x="3053911" y="2578100"/>
            <a:ext cx="1022350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Catalog</a:t>
            </a:r>
          </a:p>
        </p:txBody>
      </p:sp>
      <p:sp>
        <p:nvSpPr>
          <p:cNvPr id="16417" name="Rectangle 38"/>
          <p:cNvSpPr>
            <a:spLocks noChangeArrowheads="1"/>
          </p:cNvSpPr>
          <p:nvPr/>
        </p:nvSpPr>
        <p:spPr bwMode="auto">
          <a:xfrm>
            <a:off x="3393636" y="3444875"/>
            <a:ext cx="247650" cy="4365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18" name="Line 39"/>
          <p:cNvSpPr>
            <a:spLocks noChangeShapeType="1"/>
          </p:cNvSpPr>
          <p:nvPr/>
        </p:nvSpPr>
        <p:spPr bwMode="auto">
          <a:xfrm flipH="1">
            <a:off x="3541274" y="3098800"/>
            <a:ext cx="14287" cy="299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419" name="Text Box 40"/>
          <p:cNvSpPr txBox="1">
            <a:spLocks noChangeArrowheads="1"/>
          </p:cNvSpPr>
          <p:nvPr/>
        </p:nvSpPr>
        <p:spPr bwMode="auto">
          <a:xfrm>
            <a:off x="1778292" y="3227652"/>
            <a:ext cx="1736374" cy="3416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Get_courses</a:t>
            </a:r>
            <a:r>
              <a:rPr lang="en-US" dirty="0"/>
              <a:t>()</a:t>
            </a:r>
          </a:p>
        </p:txBody>
      </p:sp>
      <p:sp>
        <p:nvSpPr>
          <p:cNvPr id="16420" name="Line 41"/>
          <p:cNvSpPr>
            <a:spLocks noChangeShapeType="1"/>
          </p:cNvSpPr>
          <p:nvPr/>
        </p:nvSpPr>
        <p:spPr bwMode="auto">
          <a:xfrm>
            <a:off x="1896624" y="5522571"/>
            <a:ext cx="6393526" cy="20637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28"/>
          <p:cNvSpPr>
            <a:spLocks noChangeShapeType="1"/>
          </p:cNvSpPr>
          <p:nvPr/>
        </p:nvSpPr>
        <p:spPr bwMode="auto">
          <a:xfrm>
            <a:off x="1885512" y="3619500"/>
            <a:ext cx="150812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7680325" y="2397125"/>
            <a:ext cx="1406525" cy="622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7778293" y="2406404"/>
            <a:ext cx="1210588" cy="5909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Student</a:t>
            </a:r>
            <a:br>
              <a:rPr lang="en-US" dirty="0"/>
            </a:br>
            <a:r>
              <a:rPr lang="en-US" dirty="0"/>
              <a:t>Schedule</a:t>
            </a: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 flipH="1">
            <a:off x="8383813" y="3057980"/>
            <a:ext cx="14288" cy="299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8245700" y="5215318"/>
            <a:ext cx="290513" cy="533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6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More on the Sequence Diagram</a:t>
            </a:r>
          </a:p>
        </p:txBody>
      </p:sp>
      <p:sp>
        <p:nvSpPr>
          <p:cNvPr id="987139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FF00"/>
                </a:solidFill>
                <a:effectLst/>
              </a:rPr>
              <a:t>Internally to the course there should be some logic to decide if student can take class</a:t>
            </a:r>
          </a:p>
          <a:p>
            <a:pPr lvl="1" eaLnBrk="1" hangingPunct="1">
              <a:defRPr/>
            </a:pPr>
            <a:r>
              <a:rPr lang="en-US" sz="2400" dirty="0">
                <a:effectLst/>
              </a:rPr>
              <a:t>e.g. meets pre-</a:t>
            </a:r>
            <a:r>
              <a:rPr lang="en-US" sz="2400" dirty="0" err="1">
                <a:effectLst/>
              </a:rPr>
              <a:t>reqs</a:t>
            </a:r>
            <a:r>
              <a:rPr lang="en-US" sz="2400" dirty="0">
                <a:effectLst/>
              </a:rPr>
              <a:t>, section is not full, etc.</a:t>
            </a:r>
          </a:p>
          <a:p>
            <a:pPr lvl="1" eaLnBrk="1" hangingPunct="1">
              <a:defRPr/>
            </a:pPr>
            <a:endParaRPr lang="en-US" sz="2400" dirty="0">
              <a:effectLst/>
            </a:endParaRPr>
          </a:p>
          <a:p>
            <a:pPr eaLnBrk="1" hangingPunct="1">
              <a:defRPr/>
            </a:pPr>
            <a:r>
              <a:rPr lang="en-US" sz="2800" dirty="0">
                <a:solidFill>
                  <a:srgbClr val="FFFF00"/>
                </a:solidFill>
                <a:effectLst/>
              </a:rPr>
              <a:t>We model this with State Diagrams (next)</a:t>
            </a:r>
          </a:p>
          <a:p>
            <a:pPr lvl="1" eaLnBrk="1" hangingPunct="1">
              <a:defRPr/>
            </a:pPr>
            <a:r>
              <a:rPr lang="en-US" sz="2400" dirty="0">
                <a:effectLst/>
              </a:rPr>
              <a:t>They will provide a means for modeling the decision logic that takes place within the methods of the various classes we are designing</a:t>
            </a:r>
            <a:endParaRPr lang="en-US" sz="2400" dirty="0"/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722045-9166-4B26-9530-D55A5CEB0343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5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Sequence Diagram – </a:t>
            </a:r>
            <a:r>
              <a:rPr lang="en-US" sz="3200" dirty="0" err="1"/>
              <a:t>Safehome</a:t>
            </a:r>
            <a:r>
              <a:rPr lang="en-US" sz="3200" dirty="0"/>
              <a:t> Security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42F035-8255-49BD-AF28-F51E5B889B2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9796" y="1212624"/>
            <a:ext cx="7829550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8796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7" name="Rectangle 3"/>
          <p:cNvSpPr>
            <a:spLocks noGrp="1" noChangeArrowheads="1"/>
          </p:cNvSpPr>
          <p:nvPr>
            <p:ph type="title"/>
          </p:nvPr>
        </p:nvSpPr>
        <p:spPr>
          <a:xfrm>
            <a:off x="203200" y="174172"/>
            <a:ext cx="8752114" cy="563034"/>
          </a:xfrm>
        </p:spPr>
        <p:txBody>
          <a:bodyPr/>
          <a:lstStyle/>
          <a:p>
            <a:r>
              <a:rPr lang="en-US" sz="3200" dirty="0"/>
              <a:t>Sequence Diagram – Select Components</a:t>
            </a:r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2819400" y="5283200"/>
            <a:ext cx="4572000" cy="203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599" y="757688"/>
            <a:ext cx="891177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9678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31913" y="0"/>
            <a:ext cx="6478587" cy="1016000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sz="3200"/>
              <a:t>State Representations</a:t>
            </a:r>
          </a:p>
        </p:txBody>
      </p:sp>
      <p:sp>
        <p:nvSpPr>
          <p:cNvPr id="98918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104900"/>
            <a:ext cx="8229600" cy="462121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800"/>
              <a:t>In the context of behavioral modeling, two different characterizations of states must be considered: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sz="2400"/>
              <a:t>the state of each </a:t>
            </a:r>
            <a:r>
              <a:rPr lang="en-US" sz="2400">
                <a:solidFill>
                  <a:srgbClr val="FFFF00"/>
                </a:solidFill>
              </a:rPr>
              <a:t>class</a:t>
            </a:r>
            <a:r>
              <a:rPr lang="en-US" sz="2400"/>
              <a:t> as the system performs its function and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sz="2400"/>
              <a:t>the state of the </a:t>
            </a:r>
            <a:r>
              <a:rPr lang="en-US" sz="2400">
                <a:solidFill>
                  <a:srgbClr val="FFFF00"/>
                </a:solidFill>
              </a:rPr>
              <a:t>system</a:t>
            </a:r>
            <a:r>
              <a:rPr lang="en-US" sz="2400"/>
              <a:t> as observed from the outside as the system performs its function</a:t>
            </a:r>
          </a:p>
        </p:txBody>
      </p:sp>
      <p:sp>
        <p:nvSpPr>
          <p:cNvPr id="204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E0DA0A-EFA4-4649-A080-DDBD19FB9101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7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31913" y="0"/>
            <a:ext cx="6478587" cy="1016000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sz="3200"/>
              <a:t>State Representations II</a:t>
            </a:r>
          </a:p>
        </p:txBody>
      </p:sp>
      <p:sp>
        <p:nvSpPr>
          <p:cNvPr id="99430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104900"/>
            <a:ext cx="8229600" cy="4621213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800"/>
              <a:t>The state of a class takes on both passive and active characteristics [CHA93].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sz="2400"/>
              <a:t>A </a:t>
            </a:r>
            <a:r>
              <a:rPr lang="en-US" sz="2400" b="1">
                <a:solidFill>
                  <a:srgbClr val="FFFF00"/>
                </a:solidFill>
              </a:rPr>
              <a:t>passive state</a:t>
            </a:r>
            <a:r>
              <a:rPr lang="en-US" sz="2400"/>
              <a:t> is simply the current status of all of an object’s attributes.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sz="2400"/>
              <a:t>The </a:t>
            </a:r>
            <a:r>
              <a:rPr lang="en-US" sz="2400" b="1">
                <a:solidFill>
                  <a:srgbClr val="FFFF00"/>
                </a:solidFill>
              </a:rPr>
              <a:t>active state</a:t>
            </a:r>
            <a:r>
              <a:rPr lang="en-US" sz="2400"/>
              <a:t> of an object indicates the current status of the object as it undergoes a continuing transformation or processing. </a:t>
            </a:r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0F91DB-3798-467F-9FF1-17AA80E31238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9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285" y="232228"/>
            <a:ext cx="7162800" cy="457200"/>
          </a:xfrm>
          <a:noFill/>
          <a:ln/>
        </p:spPr>
        <p:txBody>
          <a:bodyPr lIns="90487" tIns="44450" rIns="90487" bIns="44450" anchor="ctr">
            <a:normAutofit fontScale="90000"/>
          </a:bodyPr>
          <a:lstStyle/>
          <a:p>
            <a:r>
              <a:rPr lang="en-US" sz="3200" dirty="0"/>
              <a:t>The States of a System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>
          <a:xfrm>
            <a:off x="1001484" y="1132113"/>
            <a:ext cx="7228115" cy="4151086"/>
          </a:xfrm>
          <a:noFill/>
          <a:ln/>
        </p:spPr>
        <p:txBody>
          <a:bodyPr lIns="90487" tIns="44450" rIns="90487" bIns="44450"/>
          <a:lstStyle/>
          <a:p>
            <a:r>
              <a:rPr lang="en-US" b="1" dirty="0">
                <a:solidFill>
                  <a:srgbClr val="FFFF00"/>
                </a:solidFill>
              </a:rPr>
              <a:t>State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—a set of observable circum-stances that characterizes the behavior of a system at a given time</a:t>
            </a:r>
          </a:p>
          <a:p>
            <a:r>
              <a:rPr lang="en-US" b="1" dirty="0">
                <a:solidFill>
                  <a:srgbClr val="FFFF00"/>
                </a:solidFill>
              </a:rPr>
              <a:t>State transition</a:t>
            </a:r>
            <a:r>
              <a:rPr lang="en-US" b="1" dirty="0">
                <a:solidFill>
                  <a:schemeClr val="folHlink"/>
                </a:solidFill>
              </a:rPr>
              <a:t> </a:t>
            </a:r>
            <a:r>
              <a:rPr lang="en-US" dirty="0"/>
              <a:t>—the movement from one state to another</a:t>
            </a:r>
          </a:p>
          <a:p>
            <a:r>
              <a:rPr lang="en-US" b="1" dirty="0">
                <a:solidFill>
                  <a:srgbClr val="FFFF00"/>
                </a:solidFill>
              </a:rPr>
              <a:t>Event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—an occurrence that causes the system to exhibit some predictable form of behavior</a:t>
            </a:r>
          </a:p>
          <a:p>
            <a:r>
              <a:rPr lang="en-US" b="1" dirty="0">
                <a:solidFill>
                  <a:srgbClr val="FFFF00"/>
                </a:solidFill>
              </a:rPr>
              <a:t>Action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—process that occurs as a consequence of making a transition</a:t>
            </a:r>
          </a:p>
        </p:txBody>
      </p:sp>
    </p:spTree>
    <p:extLst>
      <p:ext uri="{BB962C8B-B14F-4D97-AF65-F5344CB8AC3E}">
        <p14:creationId xmlns:p14="http://schemas.microsoft.com/office/powerpoint/2010/main" val="15481873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The Elements of the State Diagram</a:t>
            </a:r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0C657EA-25D6-43FF-86E7-6CFE983D846B}" type="slidenum">
              <a:rPr lang="en-US"/>
              <a:pPr/>
              <a:t>15</a:t>
            </a:fld>
            <a:endParaRPr lang="en-US"/>
          </a:p>
        </p:txBody>
      </p:sp>
      <p:grpSp>
        <p:nvGrpSpPr>
          <p:cNvPr id="22532" name="Group 3"/>
          <p:cNvGrpSpPr>
            <a:grpSpLocks/>
          </p:cNvGrpSpPr>
          <p:nvPr/>
        </p:nvGrpSpPr>
        <p:grpSpPr bwMode="auto">
          <a:xfrm>
            <a:off x="419100" y="879475"/>
            <a:ext cx="5408613" cy="2889250"/>
            <a:chOff x="254" y="641"/>
            <a:chExt cx="3041" cy="1637"/>
          </a:xfrm>
        </p:grpSpPr>
        <p:sp>
          <p:nvSpPr>
            <p:cNvPr id="22548" name="Text Box 4"/>
            <p:cNvSpPr txBox="1">
              <a:spLocks noChangeArrowheads="1"/>
            </p:cNvSpPr>
            <p:nvPr/>
          </p:nvSpPr>
          <p:spPr bwMode="auto">
            <a:xfrm>
              <a:off x="254" y="1263"/>
              <a:ext cx="1538" cy="3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200"/>
                <a:t>The three elements</a:t>
              </a:r>
            </a:p>
            <a:p>
              <a:r>
                <a:rPr lang="en-US" sz="2200"/>
                <a:t>of a state diagram:</a:t>
              </a:r>
            </a:p>
          </p:txBody>
        </p:sp>
        <p:sp>
          <p:nvSpPr>
            <p:cNvPr id="22549" name="Line 5"/>
            <p:cNvSpPr>
              <a:spLocks noChangeShapeType="1"/>
            </p:cNvSpPr>
            <p:nvPr/>
          </p:nvSpPr>
          <p:spPr bwMode="auto">
            <a:xfrm flipV="1">
              <a:off x="1711" y="1339"/>
              <a:ext cx="42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550" name="Line 6"/>
            <p:cNvSpPr>
              <a:spLocks noChangeShapeType="1"/>
            </p:cNvSpPr>
            <p:nvPr/>
          </p:nvSpPr>
          <p:spPr bwMode="auto">
            <a:xfrm>
              <a:off x="1705" y="1723"/>
              <a:ext cx="493" cy="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22551" name="Group 7"/>
            <p:cNvGrpSpPr>
              <a:grpSpLocks/>
            </p:cNvGrpSpPr>
            <p:nvPr/>
          </p:nvGrpSpPr>
          <p:grpSpPr bwMode="auto">
            <a:xfrm>
              <a:off x="2186" y="641"/>
              <a:ext cx="1109" cy="1637"/>
              <a:chOff x="2472" y="813"/>
              <a:chExt cx="1109" cy="1637"/>
            </a:xfrm>
          </p:grpSpPr>
          <p:pic>
            <p:nvPicPr>
              <p:cNvPr id="22553" name="Picture 8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472" y="813"/>
                <a:ext cx="1109" cy="1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</p:pic>
          <p:sp>
            <p:nvSpPr>
              <p:cNvPr id="22554" name="Text Box 9"/>
              <p:cNvSpPr txBox="1">
                <a:spLocks noChangeArrowheads="1"/>
              </p:cNvSpPr>
              <p:nvPr/>
            </p:nvSpPr>
            <p:spPr bwMode="auto">
              <a:xfrm>
                <a:off x="2573" y="871"/>
                <a:ext cx="930" cy="192"/>
              </a:xfrm>
              <a:prstGeom prst="rect">
                <a:avLst/>
              </a:prstGeom>
              <a:solidFill>
                <a:schemeClr val="tx1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>
                    <a:solidFill>
                      <a:schemeClr val="bg2"/>
                    </a:solidFill>
                  </a:rPr>
                  <a:t>State Name</a:t>
                </a:r>
              </a:p>
            </p:txBody>
          </p:sp>
          <p:sp>
            <p:nvSpPr>
              <p:cNvPr id="22555" name="Text Box 10"/>
              <p:cNvSpPr txBox="1">
                <a:spLocks noChangeArrowheads="1"/>
              </p:cNvSpPr>
              <p:nvPr/>
            </p:nvSpPr>
            <p:spPr bwMode="auto">
              <a:xfrm>
                <a:off x="2533" y="1274"/>
                <a:ext cx="1001" cy="333"/>
              </a:xfrm>
              <a:prstGeom prst="rect">
                <a:avLst/>
              </a:prstGeom>
              <a:solidFill>
                <a:schemeClr val="tx1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>
                    <a:solidFill>
                      <a:schemeClr val="bg2"/>
                    </a:solidFill>
                  </a:rPr>
                  <a:t>State </a:t>
                </a:r>
              </a:p>
              <a:p>
                <a:pPr algn="ctr"/>
                <a:r>
                  <a:rPr lang="en-US">
                    <a:solidFill>
                      <a:schemeClr val="bg2"/>
                    </a:solidFill>
                  </a:rPr>
                  <a:t>Variables</a:t>
                </a:r>
              </a:p>
            </p:txBody>
          </p:sp>
          <p:sp>
            <p:nvSpPr>
              <p:cNvPr id="22556" name="Text Box 11"/>
              <p:cNvSpPr txBox="1">
                <a:spLocks noChangeArrowheads="1"/>
              </p:cNvSpPr>
              <p:nvPr/>
            </p:nvSpPr>
            <p:spPr bwMode="auto">
              <a:xfrm>
                <a:off x="2506" y="1797"/>
                <a:ext cx="1000" cy="617"/>
              </a:xfrm>
              <a:prstGeom prst="rect">
                <a:avLst/>
              </a:prstGeom>
              <a:solidFill>
                <a:schemeClr val="tx1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2"/>
                    </a:solidFill>
                  </a:rPr>
                  <a:t>Activities:</a:t>
                </a:r>
              </a:p>
              <a:p>
                <a:pPr algn="ctr"/>
                <a:r>
                  <a:rPr lang="en-US" dirty="0">
                    <a:solidFill>
                      <a:schemeClr val="bg2"/>
                    </a:solidFill>
                  </a:rPr>
                  <a:t>  -Entry</a:t>
                </a:r>
              </a:p>
              <a:p>
                <a:pPr algn="ctr"/>
                <a:r>
                  <a:rPr lang="en-US" dirty="0">
                    <a:solidFill>
                      <a:schemeClr val="bg2"/>
                    </a:solidFill>
                  </a:rPr>
                  <a:t>      -Actions</a:t>
                </a:r>
              </a:p>
              <a:p>
                <a:pPr algn="ctr"/>
                <a:r>
                  <a:rPr lang="en-US" dirty="0">
                    <a:solidFill>
                      <a:schemeClr val="bg2"/>
                    </a:solidFill>
                  </a:rPr>
                  <a:t>-Exit</a:t>
                </a:r>
              </a:p>
            </p:txBody>
          </p:sp>
        </p:grpSp>
        <p:sp>
          <p:nvSpPr>
            <p:cNvPr id="22552" name="Line 12"/>
            <p:cNvSpPr>
              <a:spLocks noChangeShapeType="1"/>
            </p:cNvSpPr>
            <p:nvPr/>
          </p:nvSpPr>
          <p:spPr bwMode="auto">
            <a:xfrm flipV="1">
              <a:off x="1674" y="853"/>
              <a:ext cx="486" cy="4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4967288" y="3802063"/>
            <a:ext cx="2990850" cy="1885950"/>
            <a:chOff x="3577" y="832"/>
            <a:chExt cx="1884" cy="1188"/>
          </a:xfrm>
        </p:grpSpPr>
        <p:grpSp>
          <p:nvGrpSpPr>
            <p:cNvPr id="22534" name="Group 30"/>
            <p:cNvGrpSpPr>
              <a:grpSpLocks/>
            </p:cNvGrpSpPr>
            <p:nvPr/>
          </p:nvGrpSpPr>
          <p:grpSpPr bwMode="auto">
            <a:xfrm>
              <a:off x="4717" y="832"/>
              <a:ext cx="682" cy="245"/>
              <a:chOff x="4815" y="914"/>
              <a:chExt cx="682" cy="245"/>
            </a:xfrm>
          </p:grpSpPr>
          <p:sp>
            <p:nvSpPr>
              <p:cNvPr id="22546" name="Line 31"/>
              <p:cNvSpPr>
                <a:spLocks noChangeShapeType="1"/>
              </p:cNvSpPr>
              <p:nvPr/>
            </p:nvSpPr>
            <p:spPr bwMode="auto">
              <a:xfrm>
                <a:off x="4815" y="1159"/>
                <a:ext cx="682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547" name="Text Box 32"/>
              <p:cNvSpPr txBox="1">
                <a:spLocks noChangeArrowheads="1"/>
              </p:cNvSpPr>
              <p:nvPr/>
            </p:nvSpPr>
            <p:spPr bwMode="auto">
              <a:xfrm>
                <a:off x="4856" y="914"/>
                <a:ext cx="506" cy="21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FF00"/>
                    </a:solidFill>
                  </a:rPr>
                  <a:t>Event</a:t>
                </a:r>
              </a:p>
            </p:txBody>
          </p:sp>
        </p:grpSp>
        <p:grpSp>
          <p:nvGrpSpPr>
            <p:cNvPr id="22535" name="Group 33"/>
            <p:cNvGrpSpPr>
              <a:grpSpLocks/>
            </p:cNvGrpSpPr>
            <p:nvPr/>
          </p:nvGrpSpPr>
          <p:grpSpPr bwMode="auto">
            <a:xfrm>
              <a:off x="4727" y="1201"/>
              <a:ext cx="657" cy="399"/>
              <a:chOff x="4698" y="1411"/>
              <a:chExt cx="657" cy="399"/>
            </a:xfrm>
          </p:grpSpPr>
          <p:sp>
            <p:nvSpPr>
              <p:cNvPr id="22543" name="Oval 34"/>
              <p:cNvSpPr>
                <a:spLocks noChangeArrowheads="1"/>
              </p:cNvSpPr>
              <p:nvPr/>
            </p:nvSpPr>
            <p:spPr bwMode="auto">
              <a:xfrm>
                <a:off x="4698" y="1600"/>
                <a:ext cx="194" cy="210"/>
              </a:xfrm>
              <a:prstGeom prst="ellipse">
                <a:avLst/>
              </a:prstGeom>
              <a:solidFill>
                <a:schemeClr val="bg2"/>
              </a:solidFill>
              <a:ln w="254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544" name="Line 35"/>
              <p:cNvSpPr>
                <a:spLocks noChangeShapeType="1"/>
              </p:cNvSpPr>
              <p:nvPr/>
            </p:nvSpPr>
            <p:spPr bwMode="auto">
              <a:xfrm>
                <a:off x="4905" y="1687"/>
                <a:ext cx="45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545" name="Text Box 36"/>
              <p:cNvSpPr txBox="1">
                <a:spLocks noChangeArrowheads="1"/>
              </p:cNvSpPr>
              <p:nvPr/>
            </p:nvSpPr>
            <p:spPr bwMode="auto">
              <a:xfrm>
                <a:off x="4818" y="1411"/>
                <a:ext cx="444" cy="21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FF00"/>
                    </a:solidFill>
                  </a:rPr>
                  <a:t>Start</a:t>
                </a:r>
              </a:p>
            </p:txBody>
          </p:sp>
        </p:grpSp>
        <p:sp>
          <p:nvSpPr>
            <p:cNvPr id="22536" name="Text Box 37"/>
            <p:cNvSpPr txBox="1">
              <a:spLocks noChangeArrowheads="1"/>
            </p:cNvSpPr>
            <p:nvPr/>
          </p:nvSpPr>
          <p:spPr bwMode="auto">
            <a:xfrm>
              <a:off x="3577" y="953"/>
              <a:ext cx="856" cy="37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Additional </a:t>
              </a:r>
            </a:p>
            <a:p>
              <a:r>
                <a:rPr lang="en-US"/>
                <a:t>symbols:</a:t>
              </a:r>
            </a:p>
          </p:txBody>
        </p:sp>
        <p:grpSp>
          <p:nvGrpSpPr>
            <p:cNvPr id="22537" name="Group 38"/>
            <p:cNvGrpSpPr>
              <a:grpSpLocks/>
            </p:cNvGrpSpPr>
            <p:nvPr/>
          </p:nvGrpSpPr>
          <p:grpSpPr bwMode="auto">
            <a:xfrm>
              <a:off x="4761" y="1643"/>
              <a:ext cx="700" cy="377"/>
              <a:chOff x="4821" y="2039"/>
              <a:chExt cx="700" cy="377"/>
            </a:xfrm>
          </p:grpSpPr>
          <p:sp>
            <p:nvSpPr>
              <p:cNvPr id="22538" name="Line 39"/>
              <p:cNvSpPr>
                <a:spLocks noChangeShapeType="1"/>
              </p:cNvSpPr>
              <p:nvPr/>
            </p:nvSpPr>
            <p:spPr bwMode="auto">
              <a:xfrm>
                <a:off x="4821" y="2300"/>
                <a:ext cx="443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2539" name="Text Box 40"/>
              <p:cNvSpPr txBox="1">
                <a:spLocks noChangeArrowheads="1"/>
              </p:cNvSpPr>
              <p:nvPr/>
            </p:nvSpPr>
            <p:spPr bwMode="auto">
              <a:xfrm>
                <a:off x="4928" y="2039"/>
                <a:ext cx="380" cy="21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rgbClr val="FFFF00"/>
                    </a:solidFill>
                  </a:rPr>
                  <a:t>Exit</a:t>
                </a:r>
              </a:p>
            </p:txBody>
          </p:sp>
          <p:grpSp>
            <p:nvGrpSpPr>
              <p:cNvPr id="22540" name="Group 41"/>
              <p:cNvGrpSpPr>
                <a:grpSpLocks/>
              </p:cNvGrpSpPr>
              <p:nvPr/>
            </p:nvGrpSpPr>
            <p:grpSpPr bwMode="auto">
              <a:xfrm>
                <a:off x="5282" y="2169"/>
                <a:ext cx="239" cy="247"/>
                <a:chOff x="3576" y="3247"/>
                <a:chExt cx="306" cy="314"/>
              </a:xfrm>
            </p:grpSpPr>
            <p:sp>
              <p:nvSpPr>
                <p:cNvPr id="22541" name="Oval 42"/>
                <p:cNvSpPr>
                  <a:spLocks noChangeArrowheads="1"/>
                </p:cNvSpPr>
                <p:nvPr/>
              </p:nvSpPr>
              <p:spPr bwMode="auto">
                <a:xfrm>
                  <a:off x="3635" y="3297"/>
                  <a:ext cx="201" cy="211"/>
                </a:xfrm>
                <a:prstGeom prst="ellipse">
                  <a:avLst/>
                </a:prstGeom>
                <a:solidFill>
                  <a:schemeClr val="bg2"/>
                </a:solidFill>
                <a:ln w="254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22542" name="Oval 43"/>
                <p:cNvSpPr>
                  <a:spLocks noChangeArrowheads="1"/>
                </p:cNvSpPr>
                <p:nvPr/>
              </p:nvSpPr>
              <p:spPr bwMode="auto">
                <a:xfrm>
                  <a:off x="3576" y="3247"/>
                  <a:ext cx="306" cy="314"/>
                </a:xfrm>
                <a:prstGeom prst="ellips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2942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The Elements of the State Diagram</a:t>
            </a:r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E27C18-2FB8-4004-8A2E-4AF42A408816}" type="slidenum">
              <a:rPr lang="en-US" altLang="en-US" sz="1200" smtClean="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Arial" charset="0"/>
            </a:endParaRPr>
          </a:p>
        </p:txBody>
      </p:sp>
      <p:pic>
        <p:nvPicPr>
          <p:cNvPr id="990236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655763"/>
            <a:ext cx="7840662" cy="328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590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1408113" y="1393825"/>
            <a:ext cx="6488112" cy="42672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 without Details on State Variables and Actions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B11E97-AA63-4682-9A32-9EC99A896D4F}" type="slidenum">
              <a:rPr lang="en-US" altLang="en-US" sz="1200" smtClean="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" charset="0"/>
            </a:endParaRPr>
          </a:p>
        </p:txBody>
      </p:sp>
      <p:pic>
        <p:nvPicPr>
          <p:cNvPr id="2355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1587500"/>
            <a:ext cx="5299075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4332288" y="5421313"/>
            <a:ext cx="45720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2"/>
                </a:solidFill>
                <a:latin typeface="Helvetica" pitchFamily="34" charset="0"/>
              </a:rPr>
              <a:t>http://www.math-cs.gordon.edu/courses/cs211/ATMExample/Statecharts.html</a:t>
            </a:r>
          </a:p>
        </p:txBody>
      </p:sp>
    </p:spTree>
    <p:extLst>
      <p:ext uri="{BB962C8B-B14F-4D97-AF65-F5344CB8AC3E}">
        <p14:creationId xmlns:p14="http://schemas.microsoft.com/office/powerpoint/2010/main" val="316250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3048000" y="1190625"/>
            <a:ext cx="3482975" cy="490537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75" y="128588"/>
            <a:ext cx="8229600" cy="1016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 without Details on State Variables and Actions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BF2EC1-1A3D-499F-B577-EBE469F8521F}" type="slidenum">
              <a:rPr lang="en-US" altLang="en-US" sz="1200" smtClean="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Arial" charset="0"/>
            </a:endParaRPr>
          </a:p>
        </p:txBody>
      </p:sp>
      <p:pic>
        <p:nvPicPr>
          <p:cNvPr id="2458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1292225"/>
            <a:ext cx="3178175" cy="462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616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Another Example without Details on State Variables and Actions</a:t>
            </a: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DC7EFE-40D7-4DC5-91B0-14C8E3452A8B}" type="slidenum">
              <a:rPr lang="en-US" altLang="en-US" sz="1200" smtClean="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Arial" charset="0"/>
            </a:endParaRPr>
          </a:p>
        </p:txBody>
      </p:sp>
      <p:pic>
        <p:nvPicPr>
          <p:cNvPr id="25604" name="Picture 2" descr="http://AgileModeling.com/images/models/stateMachineTopLev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2122488"/>
            <a:ext cx="65182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4244975" y="5349875"/>
            <a:ext cx="45720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Helvetica" pitchFamily="34" charset="0"/>
              </a:rPr>
              <a:t>http://www.agilemodeling.com/artifacts/stateMachineDiagram.htm</a:t>
            </a:r>
          </a:p>
        </p:txBody>
      </p:sp>
    </p:spTree>
    <p:extLst>
      <p:ext uri="{BB962C8B-B14F-4D97-AF65-F5344CB8AC3E}">
        <p14:creationId xmlns:p14="http://schemas.microsoft.com/office/powerpoint/2010/main" val="4051789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1016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 with Details on State Variables and Actions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E2BA50-50C7-4459-B038-22FF8FB335ED}" type="slidenum">
              <a:rPr lang="en-US" altLang="en-US" sz="1200" smtClean="0">
                <a:latin typeface="Arial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Arial" charset="0"/>
            </a:endParaRPr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8" y="2316163"/>
            <a:ext cx="8969375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4572000" y="5635625"/>
            <a:ext cx="4211638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Palatino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Palatino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Palatino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Palatino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Helvetica" pitchFamily="34" charset="0"/>
              </a:rPr>
              <a:t>https://www.gliffy.com/examples/uml</a:t>
            </a:r>
          </a:p>
        </p:txBody>
      </p:sp>
    </p:spTree>
    <p:extLst>
      <p:ext uri="{BB962C8B-B14F-4D97-AF65-F5344CB8AC3E}">
        <p14:creationId xmlns:p14="http://schemas.microsoft.com/office/powerpoint/2010/main" val="403670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821051" y="1089378"/>
            <a:ext cx="7141029" cy="494937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title"/>
          </p:nvPr>
        </p:nvSpPr>
        <p:spPr>
          <a:xfrm>
            <a:off x="693057" y="0"/>
            <a:ext cx="7848600" cy="1089378"/>
          </a:xfrm>
        </p:spPr>
        <p:txBody>
          <a:bodyPr/>
          <a:lstStyle/>
          <a:p>
            <a:r>
              <a:rPr lang="en-US" sz="3200" dirty="0"/>
              <a:t>State Diagram for the Control Panel Class</a:t>
            </a:r>
            <a:endParaRPr lang="en-US" sz="3600" dirty="0"/>
          </a:p>
        </p:txBody>
      </p:sp>
      <p:pic>
        <p:nvPicPr>
          <p:cNvPr id="1955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8001" y="1098704"/>
            <a:ext cx="6284685" cy="493071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78252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114300"/>
            <a:ext cx="8229600" cy="1016000"/>
          </a:xfrm>
        </p:spPr>
        <p:txBody>
          <a:bodyPr/>
          <a:lstStyle/>
          <a:p>
            <a:pPr>
              <a:defRPr/>
            </a:pPr>
            <a:r>
              <a:rPr lang="en-US" sz="3200" dirty="0"/>
              <a:t>Process for Making State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20211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Determine the states the system can be in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Connect states together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Define events that will take place to transition between states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Refine and add any states you forgot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dirty="0"/>
              <a:t>As needed define entry conditions, actions, and any data variables that will be changed.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32029245-8CA4-46C0-BF72-6F438423F020}" type="slidenum">
              <a:rPr lang="en-US" altLang="en-US" b="0" smtClean="0">
                <a:latin typeface="Arial" charset="0"/>
              </a:rPr>
              <a:pPr/>
              <a:t>22</a:t>
            </a:fld>
            <a:endParaRPr lang="en-US" altLang="en-US" b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298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95086" y="244475"/>
            <a:ext cx="7939314" cy="10160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In-Class Breakout Session</a:t>
            </a:r>
          </a:p>
        </p:txBody>
      </p:sp>
      <p:sp>
        <p:nvSpPr>
          <p:cNvPr id="102195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143000" y="1752600"/>
            <a:ext cx="6796088" cy="3287713"/>
          </a:xfrm>
        </p:spPr>
        <p:txBody>
          <a:bodyPr/>
          <a:lstStyle/>
          <a:p>
            <a:pPr marL="0" lvl="1" indent="0">
              <a:buClr>
                <a:schemeClr val="hlink"/>
              </a:buClr>
              <a:buNone/>
              <a:defRPr/>
            </a:pPr>
            <a:r>
              <a:rPr lang="en-US" sz="2400" b="1" u="sng" dirty="0"/>
              <a:t>Using the Coffee Shop Exercise:</a:t>
            </a:r>
          </a:p>
          <a:p>
            <a:pPr marL="342900" lvl="1" indent="-342900">
              <a:buClr>
                <a:schemeClr val="hlink"/>
              </a:buClr>
              <a:defRPr/>
            </a:pPr>
            <a:endParaRPr lang="en-US" sz="2400" dirty="0"/>
          </a:p>
          <a:p>
            <a:pPr marL="342900" lvl="1" indent="-342900">
              <a:buClr>
                <a:schemeClr val="hlink"/>
              </a:buClr>
              <a:defRPr/>
            </a:pPr>
            <a:r>
              <a:rPr lang="en-US" sz="2400" dirty="0"/>
              <a:t>Develop a Sequence Chart</a:t>
            </a:r>
          </a:p>
          <a:p>
            <a:pPr marL="342900" lvl="1" indent="-342900" eaLnBrk="1" hangingPunct="1">
              <a:buClr>
                <a:schemeClr val="hlink"/>
              </a:buClr>
              <a:defRPr/>
            </a:pPr>
            <a:endParaRPr lang="en-US" sz="2400" dirty="0"/>
          </a:p>
          <a:p>
            <a:pPr marL="342900" lvl="1" indent="-342900" eaLnBrk="1" hangingPunct="1">
              <a:buClr>
                <a:schemeClr val="hlink"/>
              </a:buClr>
              <a:defRPr/>
            </a:pPr>
            <a:r>
              <a:rPr lang="en-US" sz="2400" dirty="0"/>
              <a:t>Develop a State Diagram</a:t>
            </a:r>
            <a:endParaRPr lang="en-US" dirty="0"/>
          </a:p>
        </p:txBody>
      </p:sp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7E007F-61BA-4EA1-8726-2440A42330AA}" type="slidenum">
              <a:rPr lang="en-US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56899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11750</TotalTime>
  <Words>856</Words>
  <Application>Microsoft Office PowerPoint</Application>
  <PresentationFormat>Custom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Corbel</vt:lpstr>
      <vt:lpstr>Helvetica</vt:lpstr>
      <vt:lpstr>Palatino</vt:lpstr>
      <vt:lpstr>Times New Roman</vt:lpstr>
      <vt:lpstr>Wingdings</vt:lpstr>
      <vt:lpstr>Depth</vt:lpstr>
      <vt:lpstr>PowerPoint Presentation</vt:lpstr>
      <vt:lpstr>Advanced Software Engineering CSC-580</vt:lpstr>
      <vt:lpstr>Dynamic Modeling</vt:lpstr>
      <vt:lpstr>Steps to Creating the Behavioral (Dynamic) Model</vt:lpstr>
      <vt:lpstr>The Sequence Diagram</vt:lpstr>
      <vt:lpstr>The Sequence Diagram II</vt:lpstr>
      <vt:lpstr>Overview of the Sequence Diagram</vt:lpstr>
      <vt:lpstr>Example of a Sequence Diagram</vt:lpstr>
      <vt:lpstr>More on the Sequence Diagram</vt:lpstr>
      <vt:lpstr>Sequence Diagram – Safehome Security</vt:lpstr>
      <vt:lpstr>Sequence Diagram – Select Components</vt:lpstr>
      <vt:lpstr>State Representations</vt:lpstr>
      <vt:lpstr>State Representations II</vt:lpstr>
      <vt:lpstr>The States of a System</vt:lpstr>
      <vt:lpstr>The Elements of the State Diagram</vt:lpstr>
      <vt:lpstr>The Elements of the State Diagram</vt:lpstr>
      <vt:lpstr>Example without Details on State Variables and Actions</vt:lpstr>
      <vt:lpstr>Example without Details on State Variables and Actions</vt:lpstr>
      <vt:lpstr>Another Example without Details on State Variables and Actions</vt:lpstr>
      <vt:lpstr>Example with Details on State Variables and Actions</vt:lpstr>
      <vt:lpstr>State Diagram for the Control Panel Class</vt:lpstr>
      <vt:lpstr>Process for Making State Diagrams</vt:lpstr>
      <vt:lpstr>In-Class Breakout Session</vt:lpstr>
    </vt:vector>
  </TitlesOfParts>
  <Company>RSP&amp;A,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Transparency Masters for Software Engineering: A Practitioner's Approach, 4/e</dc:title>
  <dc:creator>Roger Pressman</dc:creator>
  <cp:lastModifiedBy>Hart, John (DTMB)</cp:lastModifiedBy>
  <cp:revision>563</cp:revision>
  <cp:lastPrinted>2016-10-16T22:10:44Z</cp:lastPrinted>
  <dcterms:created xsi:type="dcterms:W3CDTF">2000-03-07T00:57:40Z</dcterms:created>
  <dcterms:modified xsi:type="dcterms:W3CDTF">2024-03-05T12:44:00Z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f46dfe0-534f-4c95-815c-5b1af86b9823_Enabled">
    <vt:lpwstr>true</vt:lpwstr>
  </property>
  <property fmtid="{D5CDD505-2E9C-101B-9397-08002B2CF9AE}" pid="3" name="MSIP_Label_2f46dfe0-534f-4c95-815c-5b1af86b9823_SetDate">
    <vt:lpwstr>2024-03-05T12:41:35Z</vt:lpwstr>
  </property>
  <property fmtid="{D5CDD505-2E9C-101B-9397-08002B2CF9AE}" pid="4" name="MSIP_Label_2f46dfe0-534f-4c95-815c-5b1af86b9823_Method">
    <vt:lpwstr>Privileged</vt:lpwstr>
  </property>
  <property fmtid="{D5CDD505-2E9C-101B-9397-08002B2CF9AE}" pid="5" name="MSIP_Label_2f46dfe0-534f-4c95-815c-5b1af86b9823_Name">
    <vt:lpwstr>2f46dfe0-534f-4c95-815c-5b1af86b9823</vt:lpwstr>
  </property>
  <property fmtid="{D5CDD505-2E9C-101B-9397-08002B2CF9AE}" pid="6" name="MSIP_Label_2f46dfe0-534f-4c95-815c-5b1af86b9823_SiteId">
    <vt:lpwstr>d5fb7087-3777-42ad-966a-892ef47225d1</vt:lpwstr>
  </property>
  <property fmtid="{D5CDD505-2E9C-101B-9397-08002B2CF9AE}" pid="7" name="MSIP_Label_2f46dfe0-534f-4c95-815c-5b1af86b9823_ActionId">
    <vt:lpwstr>e423d9b1-b135-4eb4-a80e-e88add8d97db</vt:lpwstr>
  </property>
  <property fmtid="{D5CDD505-2E9C-101B-9397-08002B2CF9AE}" pid="8" name="MSIP_Label_2f46dfe0-534f-4c95-815c-5b1af86b9823_ContentBits">
    <vt:lpwstr>0</vt:lpwstr>
  </property>
</Properties>
</file>